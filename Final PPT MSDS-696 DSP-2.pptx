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22"/>
  </p:notesMasterIdLst>
  <p:sldIdLst>
    <p:sldId id="264" r:id="rId5"/>
    <p:sldId id="265" r:id="rId6"/>
    <p:sldId id="266" r:id="rId7"/>
    <p:sldId id="267" r:id="rId8"/>
    <p:sldId id="268" r:id="rId9"/>
    <p:sldId id="269" r:id="rId10"/>
    <p:sldId id="272" r:id="rId11"/>
    <p:sldId id="273" r:id="rId12"/>
    <p:sldId id="270" r:id="rId13"/>
    <p:sldId id="271" r:id="rId14"/>
    <p:sldId id="274" r:id="rId15"/>
    <p:sldId id="275" r:id="rId16"/>
    <p:sldId id="276" r:id="rId17"/>
    <p:sldId id="277" r:id="rId18"/>
    <p:sldId id="278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  <p188:author id="{05079B93-9652-6626-7181-414354FAD15D}" name="Sher Dionisio" initials="SD" userId="Sher Dionisi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35B91-D0E3-4F93-A7EB-5F83235B3C35}" v="26" dt="2026-05-03T23:14:57.160"/>
  </p1510:revLst>
</p1510:revInfo>
</file>

<file path=ppt/tableStyles.xml><?xml version="1.0" encoding="utf-8"?>
<a:tblStyleLst xmlns:a="http://schemas.openxmlformats.org/drawingml/2006/main" def="{7E9639D4-E3E2-4D34-9284-5A2195B3D0D7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FA5EA-0E1E-4764-B5B7-A47DCC3A898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6B470-179D-4B95-8906-D61C195EF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5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60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48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7578674-8064-3B2C-DA7F-7E3D0B7E9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95763"/>
            <a:ext cx="9598152" cy="41445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ABABE3-CA0A-1CAB-38CF-F3A5729B7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240329"/>
            <a:ext cx="7769354" cy="101239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FFF1FC-CDE9-3B47-D073-3394D4D03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76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BFF047-7A6B-BC21-B7D8-F250A7B5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689380"/>
            <a:ext cx="7876287" cy="3614139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1F9B6D5-1061-6B04-A4A3-7F71A879F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06113"/>
            <a:ext cx="7375466" cy="101239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99C91B-9803-3812-63A6-5705DB9F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2DA3032-68CE-D997-667C-4C5C01E4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835D02-A0E8-5346-DE23-09C497D7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9E3101-0B78-A7AE-A693-73443263E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6626" y="496546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749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C3FE82-1C77-7EDF-A1CD-DB107F25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4"/>
            <a:ext cx="10058400" cy="4021243"/>
          </a:xfrm>
        </p:spPr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08D0FD-E68E-587F-ED5A-5140B6EE7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65DB91C7-3013-1F4E-D55F-37E24A2C6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15728" cy="56692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361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F708609-7047-A87D-944D-1FAA546F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3B55518-9256-4E26-0E87-88DBBA9A4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481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4158DF-756B-260C-69DA-D76C163B7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6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697EF66-DC3D-B2CA-7F76-8D8A7ED2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8"/>
            <a:ext cx="8229600" cy="2621154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F2A94AC-5C1C-CE45-09E9-C80B1B71F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3954" y="4431379"/>
            <a:ext cx="7611246" cy="1465254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E6B14D-48CB-3652-5FBF-557B0DB0C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188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7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8905" y="284481"/>
            <a:ext cx="4244009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8905" y="4827642"/>
            <a:ext cx="3916294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6707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8906" y="6438900"/>
            <a:ext cx="2351783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80C9AB94-8F6E-3F2E-B012-AADB80E5486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6CE1C-3B05-36AC-25B7-6050ED0CB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093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3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055" y="1111101"/>
            <a:ext cx="4179762" cy="39359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688" y="5190622"/>
            <a:ext cx="4179762" cy="109587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6DF655-18E5-0F01-A30A-A66220E09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84BF6-8944-BCD9-907F-19E062A9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1689" y="6430037"/>
            <a:ext cx="2604618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0A1EB0B-7080-C0FF-A599-2F24CE797B3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786513" y="6430037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9E47F5A-D737-9005-3896-E6383830C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59381" y="6430037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00050" y="0"/>
            <a:ext cx="6691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22062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778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217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418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7999" y="405240"/>
            <a:ext cx="5916508" cy="1819662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481119"/>
            <a:ext cx="5916507" cy="3394364"/>
          </a:xfrm>
        </p:spPr>
        <p:txBody>
          <a:bodyPr anchor="b"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571500" indent="-3429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50F4DE-D5C9-EDEE-A6C1-8053893B1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02C9ED-7E7F-43D6-3567-8A7D0DC8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438900"/>
            <a:ext cx="3972690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94369780-1787-623B-A3F0-C72DED32992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9B34B61-93E0-16E5-3DE1-0085D9CB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61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A8E2B0F-68B7-6425-620F-3E3285F51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4"/>
            <a:ext cx="4659277" cy="16698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BB16B-437E-D6AB-E317-2BE63ABCB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44588" y="1090244"/>
            <a:ext cx="4680612" cy="1670050"/>
          </a:xfrm>
        </p:spPr>
        <p:txBody>
          <a:bodyPr/>
          <a:lstStyle>
            <a:lvl1pPr>
              <a:lnSpc>
                <a:spcPct val="100000"/>
              </a:lnSpc>
              <a:buFontTx/>
              <a:buNone/>
              <a:defRPr baseline="0"/>
            </a:lvl1pPr>
            <a:lvl2pPr marL="228600" indent="0">
              <a:lnSpc>
                <a:spcPct val="100000"/>
              </a:lnSpc>
              <a:buFontTx/>
              <a:buNone/>
              <a:defRPr baseline="0"/>
            </a:lvl2pPr>
            <a:lvl3pPr marL="457200" indent="0">
              <a:lnSpc>
                <a:spcPct val="100000"/>
              </a:lnSpc>
              <a:buFontTx/>
              <a:buNone/>
              <a:defRPr baseline="0"/>
            </a:lvl3pPr>
            <a:lvl4pPr marL="685800" indent="0">
              <a:lnSpc>
                <a:spcPct val="100000"/>
              </a:lnSpc>
              <a:buFontTx/>
              <a:buNone/>
              <a:defRPr baseline="0"/>
            </a:lvl4pPr>
            <a:lvl5pPr marL="914400" indent="0">
              <a:lnSpc>
                <a:spcPct val="100000"/>
              </a:lnSpc>
              <a:buFontTx/>
              <a:buNone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FC12-63BB-4A63-9424-BFBF8E1D71D9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FBA52A-0B44-31D0-A581-D65241A30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413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493858" cy="345689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63141" y="1115290"/>
            <a:ext cx="5862059" cy="34612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7FA5-AD20-4A92-9D35-3CC6CFA49E64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C9ED00-129A-337D-199B-933973FFF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16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471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733" y="1119386"/>
            <a:ext cx="3496147" cy="494066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63418" y="1119386"/>
            <a:ext cx="6242849" cy="494066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2AD61-D199-4B74-B80B-2001400510FA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7C024E-BDA9-596A-880A-BD5A17F5C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6072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4129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19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80" y="1111101"/>
            <a:ext cx="6339541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90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4E29EC-6D85-E8CA-F571-29C297798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F623F8-148C-BF68-DC1B-B1261EF2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781" y="6438900"/>
            <a:ext cx="4775030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9383-0924-E735-8737-2CFD7A1D40E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6301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79924-70A9-325D-5C94-812F3048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588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5414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98344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96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23332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751" y="1115736"/>
            <a:ext cx="4738450" cy="128398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01DFFF1-3C5B-AB29-A606-DE56528722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2816D63-0E0C-C808-4BF8-6A562C18459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86751" y="2552124"/>
            <a:ext cx="4738450" cy="3734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FCA30A-9E9D-9618-76A9-8B4CFF8E3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36C1912-E3D3-9A9F-E1CD-E0E6FFC2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6752" y="6438900"/>
            <a:ext cx="3173938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D67CAFB-8059-63E5-52A8-1184092A0F3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D5E22B-CB25-9948-A8AA-BACF7E42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28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302217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355" y="1111101"/>
            <a:ext cx="3813845" cy="149386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F6B569F2-50A1-6E37-5081-6843927083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7B790101-D67D-E697-E691-37D8E802AC8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311355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4F1FBBF-D97E-831B-C809-27FFA2160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6D6AD1-4AB5-D3E4-10D2-9E53DB2CC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1355" y="6438900"/>
            <a:ext cx="2249334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760FBEC-EA46-6A15-284D-4BBD1E04A1B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19DC249-6449-71C0-F0A2-E5A28E55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223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704586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109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746" y="1112431"/>
            <a:ext cx="3230992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741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C26608-3419-7FD3-1CD3-EB1EF5977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F5E252-7CD5-70EF-A3E5-C079B418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1746" y="6438900"/>
            <a:ext cx="1656002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7204A7B0-14BD-7B7E-62AF-3685F9B4BFE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8379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3A8D2A5-F36B-C5DD-6ABC-6D69A63E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108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0223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49206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132" y="4454843"/>
            <a:ext cx="2734129" cy="198882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911"/>
            <a:ext cx="12192000" cy="413645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36199" y="4454843"/>
            <a:ext cx="7579766" cy="198882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F35F03-6B82-7805-3568-C459D0906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4569435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6ECED-4F66-9F69-9550-8AEE33E6913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1D64763-04B8-333B-5679-3D29011ED73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6F9DBBC-106A-8C73-CFE2-A01128FF9A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244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883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305" y="1111141"/>
            <a:ext cx="3021873" cy="192678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4288" y="1033272"/>
            <a:ext cx="7188111" cy="2395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ACFAF5-0970-68B5-D05E-9879C8497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8A30E2-3F57-8F47-602F-5C2276719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88136" y="3498930"/>
            <a:ext cx="8562760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29AEB-6392-7627-D3BB-B1FE7ADEE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349893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316922-C670-FE33-CD5C-8173F74925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23764" y="3498930"/>
            <a:ext cx="601436" cy="419100"/>
          </a:xfrm>
        </p:spPr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914863"/>
            <a:ext cx="12192000" cy="2943138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574502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8DD8E17-974D-2F0F-D2EF-4321ADF6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B30C58BE-F380-22BA-CA7C-FB2B96D785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0940" y="2286008"/>
            <a:ext cx="4876515" cy="40339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998679-00B4-E130-BD79-0313E0E76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1E0CB0C-BB20-9ACF-5731-283BD5D2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1" y="6438900"/>
            <a:ext cx="3312004" cy="4191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17475061-2831-1993-95F3-3031A57F14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493151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14588C-2112-9C19-7A4F-97067563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66019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2286008"/>
            <a:ext cx="6096000" cy="4571992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42211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EC7A501-810E-43B8-6142-56CF2DD3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FBA175C-D562-25E3-032D-4775402236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0940" y="2286008"/>
            <a:ext cx="4876515" cy="40339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66CA4FE8-A575-44AF-2D37-5A551B6953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2286008"/>
            <a:ext cx="5472260" cy="4033964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2FC458-AD46-D16B-DA22-2B3ED9D3A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A7B643-7883-8028-6ECF-5692E317138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81F55-F029-7591-FDF9-168F3C85A6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88C49-7B47-A791-77EE-3E97DBBC9A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247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837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735FAB-6C69-9305-A8CD-D9A2ADB4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4194291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0C28B273-3A6A-8E26-2D29-29957F83B5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1100" y="2840181"/>
            <a:ext cx="4104132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263ECDE9-389D-5CB3-FE9B-8EFC501599B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571977" y="1120989"/>
            <a:ext cx="6143988" cy="516551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FB4D-92F2-4C28-8BFC-2AE0229C3E9A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6A3193-AC76-4E78-CD10-F173CED7D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1895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5145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84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0">
            <a:extLst>
              <a:ext uri="{FF2B5EF4-FFF2-40B4-BE49-F238E27FC236}">
                <a16:creationId xmlns:a16="http://schemas.microsoft.com/office/drawing/2014/main" id="{B6AA5ABE-1DAA-140F-061D-F98431F5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algn="ct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37BF13F-F73B-BAD2-4508-876DA49EFA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2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7A7CDD-9512-40CC-9351-FC0DE186CFBD}" type="datetime1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66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Lar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2BF491B-1AFE-7CD8-0B38-954C4D00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4297680"/>
            <a:ext cx="7525512" cy="1545336"/>
          </a:xfrm>
        </p:spPr>
        <p:txBody>
          <a:bodyPr anchor="b">
            <a:normAutofit/>
          </a:bodyPr>
          <a:lstStyle>
            <a:lvl1pPr>
              <a:defRPr sz="20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52FCE1AA-B772-B201-9710-EF4E78417E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2790" y="417576"/>
            <a:ext cx="10713173" cy="3706364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2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12899A-E63A-CD12-F97C-A2FA6094E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256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761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7735E4-737B-43D4-B991-92C3D63DE68F}" type="datetime1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E120EF-96AD-49A8-BA09-D58A87141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5991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BC837C73-FD1C-6BC3-42AE-E47123E0947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962895"/>
            <a:ext cx="9418320" cy="507006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5EEC7-2B19-40F0-9B64-A564E832ADEB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C237F4-1671-5EFD-3EAE-BEA28978B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2139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485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1792072-4C91-C8F5-8610-85D14AF77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9229888" cy="466345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2000" b="0" cap="none" baseline="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C136A94-B9AF-C114-ADA5-F7C4F9C6BB4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824" y="1041245"/>
            <a:ext cx="9198864" cy="36576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BA1285-A10F-FAE9-76E3-2B86ABE5A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194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623297E-8165-FAA9-BD47-048A40470A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9229888" cy="466345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2000" b="0" cap="none" baseline="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EB06CB5A-8941-99F2-1165-02A2756457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824" y="1041245"/>
            <a:ext cx="9198864" cy="36576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8418BD-2BA9-41CB-AB89-625779A7563D}" type="datetime1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32116-9F85-9512-0994-6B728E0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74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0147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86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4762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45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A6BBA35-FE70-186E-0D41-43FF7DB18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4007"/>
            <a:ext cx="3595634" cy="175750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6776A3-4932-D86F-96CB-5A080182B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3151191"/>
            <a:ext cx="3595634" cy="3124195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432AC3-A40E-E003-2947-B99A796F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706" y="1114007"/>
            <a:ext cx="6440258" cy="5161380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dirty="0"/>
            </a:lvl1pPr>
            <a:lvl2pPr>
              <a:lnSpc>
                <a:spcPct val="100000"/>
              </a:lnSpc>
              <a:defRPr lang="en-US" dirty="0"/>
            </a:lvl2pPr>
            <a:lvl3pPr>
              <a:lnSpc>
                <a:spcPct val="100000"/>
              </a:lnSpc>
              <a:defRPr lang="en-US" dirty="0"/>
            </a:lvl3pPr>
            <a:lvl4pPr>
              <a:lnSpc>
                <a:spcPct val="100000"/>
              </a:lnSpc>
              <a:defRPr lang="en-US" dirty="0"/>
            </a:lvl4pPr>
            <a:lvl5pPr>
              <a:lnSpc>
                <a:spcPct val="100000"/>
              </a:lnSpc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DA9D5E-44AB-AC59-BF1B-0A23217D6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6157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7608BFB-2ED8-159F-6A27-89452808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1098"/>
            <a:ext cx="3595634" cy="158566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CDE9255-016B-D7F7-ECF1-C39D5F73C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812473"/>
            <a:ext cx="3585586" cy="33289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917ECD0-1364-5EE8-D8DC-C5D439E045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576327" y="1143000"/>
            <a:ext cx="6139637" cy="499839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438900"/>
            <a:ext cx="609600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7B791B-0FFC-B470-22DF-BCA62BD98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64399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33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101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CD39DEB-067C-9D79-3029-F27DEA1D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9"/>
            <a:ext cx="12015216" cy="3364989"/>
          </a:xfrm>
        </p:spPr>
        <p:txBody>
          <a:bodyPr anchor="t" anchorCtr="0">
            <a:noAutofit/>
          </a:bodyPr>
          <a:lstStyle>
            <a:lvl1pPr>
              <a:defRPr sz="8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47304" y="3673928"/>
            <a:ext cx="6477896" cy="218077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ED45B0-E181-14EB-63CB-0A7627381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521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6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0" r:id="rId2"/>
    <p:sldLayoutId id="2147483726" r:id="rId3"/>
    <p:sldLayoutId id="2147483737" r:id="rId4"/>
    <p:sldLayoutId id="2147483728" r:id="rId5"/>
    <p:sldLayoutId id="2147483729" r:id="rId6"/>
    <p:sldLayoutId id="2147483738" r:id="rId7"/>
    <p:sldLayoutId id="2147483789" r:id="rId8"/>
    <p:sldLayoutId id="2147483818" r:id="rId9"/>
    <p:sldLayoutId id="2147483819" r:id="rId10"/>
    <p:sldLayoutId id="2147483820" r:id="rId11"/>
    <p:sldLayoutId id="2147483731" r:id="rId12"/>
    <p:sldLayoutId id="2147483743" r:id="rId13"/>
    <p:sldLayoutId id="2147483788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816" r:id="rId21"/>
    <p:sldLayoutId id="2147483817" r:id="rId22"/>
    <p:sldLayoutId id="2147483814" r:id="rId23"/>
    <p:sldLayoutId id="2147483815" r:id="rId24"/>
    <p:sldLayoutId id="2147483812" r:id="rId25"/>
    <p:sldLayoutId id="2147483813" r:id="rId26"/>
    <p:sldLayoutId id="2147483811" r:id="rId27"/>
    <p:sldLayoutId id="2147483810" r:id="rId28"/>
    <p:sldLayoutId id="2147483809" r:id="rId29"/>
    <p:sldLayoutId id="2147483808" r:id="rId30"/>
    <p:sldLayoutId id="2147483807" r:id="rId31"/>
    <p:sldLayoutId id="2147483806" r:id="rId32"/>
    <p:sldLayoutId id="2147483805" r:id="rId33"/>
    <p:sldLayoutId id="2147483803" r:id="rId34"/>
    <p:sldLayoutId id="2147483804" r:id="rId35"/>
    <p:sldLayoutId id="2147483802" r:id="rId36"/>
    <p:sldLayoutId id="2147483801" r:id="rId37"/>
    <p:sldLayoutId id="2147483768" r:id="rId38"/>
    <p:sldLayoutId id="2147483769" r:id="rId39"/>
    <p:sldLayoutId id="2147483770" r:id="rId40"/>
    <p:sldLayoutId id="2147483771" r:id="rId41"/>
    <p:sldLayoutId id="2147483774" r:id="rId42"/>
    <p:sldLayoutId id="2147483800" r:id="rId43"/>
    <p:sldLayoutId id="2147483821" r:id="rId44"/>
    <p:sldLayoutId id="2147483775" r:id="rId45"/>
    <p:sldLayoutId id="2147483776" r:id="rId46"/>
    <p:sldLayoutId id="2147483778" r:id="rId47"/>
    <p:sldLayoutId id="2147483798" r:id="rId48"/>
    <p:sldLayoutId id="2147483799" r:id="rId49"/>
    <p:sldLayoutId id="2147483734" r:id="rId50"/>
    <p:sldLayoutId id="2147483782" r:id="rId51"/>
    <p:sldLayoutId id="2147483783" r:id="rId52"/>
    <p:sldLayoutId id="2147483784" r:id="rId53"/>
    <p:sldLayoutId id="2147483785" r:id="rId54"/>
    <p:sldLayoutId id="2147483786" r:id="rId55"/>
    <p:sldLayoutId id="2147483822" r:id="rId56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 userDrawn="1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 userDrawn="1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 userDrawn="1">
          <p15:clr>
            <a:srgbClr val="F26B43"/>
          </p15:clr>
        </p15:guide>
        <p15:guide id="24" orient="horz" pos="2160" userDrawn="1">
          <p15:clr>
            <a:srgbClr val="F26B43"/>
          </p15:clr>
        </p15:guide>
        <p15:guide id="25" pos="7680" userDrawn="1">
          <p15:clr>
            <a:srgbClr val="F26B43"/>
          </p15:clr>
        </p15:guide>
        <p15:guide id="26" pos="3840" userDrawn="1">
          <p15:clr>
            <a:srgbClr val="F26B43"/>
          </p15:clr>
        </p15:guide>
        <p15:guide id="27" pos="6168" userDrawn="1">
          <p15:clr>
            <a:srgbClr val="F26B43"/>
          </p15:clr>
        </p15:guide>
        <p15:guide id="28" pos="672" userDrawn="1">
          <p15:clr>
            <a:srgbClr val="F26B43"/>
          </p15:clr>
        </p15:guide>
        <p15:guide id="29" pos="7008" userDrawn="1">
          <p15:clr>
            <a:srgbClr val="F26B43"/>
          </p15:clr>
        </p15:guide>
        <p15:guide id="30" orient="horz" pos="4056" userDrawn="1">
          <p15:clr>
            <a:srgbClr val="F26B43"/>
          </p15:clr>
        </p15:guide>
        <p15:guide id="31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9981-DA40-D21F-B904-E50D9505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1523-190F-8DC6-E562-0B00DA7D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02" y="1711748"/>
            <a:ext cx="10823369" cy="1948898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000000"/>
                </a:solidFill>
                <a:ea typeface="+mj-lt"/>
                <a:cs typeface="+mj-lt"/>
              </a:rPr>
              <a:t>Multi-Class Infrastructure damage  Classification using Aerial Remote Sensing</a:t>
            </a:r>
            <a:endParaRPr lang="en-US" err="1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44E73-E0C5-5975-D927-9F11100E5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5521" y="5282724"/>
            <a:ext cx="4188551" cy="91862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>
                <a:solidFill>
                  <a:srgbClr val="000000"/>
                </a:solidFill>
              </a:rPr>
              <a:t>Chennakeshava Akhil Pillalamarri</a:t>
            </a:r>
          </a:p>
          <a:p>
            <a:pPr algn="l"/>
            <a:r>
              <a:rPr lang="en-US">
                <a:solidFill>
                  <a:srgbClr val="000000"/>
                </a:solidFill>
              </a:rPr>
              <a:t>Regis University</a:t>
            </a:r>
          </a:p>
          <a:p>
            <a:pPr algn="l"/>
            <a:r>
              <a:rPr lang="en-US">
                <a:solidFill>
                  <a:srgbClr val="000000"/>
                </a:solidFill>
              </a:rPr>
              <a:t>MSDS-696 Data Science Practicum-2</a:t>
            </a:r>
          </a:p>
        </p:txBody>
      </p:sp>
    </p:spTree>
    <p:extLst>
      <p:ext uri="{BB962C8B-B14F-4D97-AF65-F5344CB8AC3E}">
        <p14:creationId xmlns:p14="http://schemas.microsoft.com/office/powerpoint/2010/main" val="181340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BEFB8-43AB-28CB-009C-D5740F3B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B88D1-AD98-E184-3B84-66C35606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2162979"/>
            <a:ext cx="6908332" cy="34104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Manual survey assessing one building at a time, which is</a:t>
            </a:r>
            <a:r>
              <a:rPr lang="en-US" b="1"/>
              <a:t> slow, expensive, inconsistent</a:t>
            </a:r>
            <a:endParaRPr lang="en-US"/>
          </a:p>
          <a:p>
            <a:endParaRPr lang="en-US" b="1"/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Aim to build a </a:t>
            </a:r>
            <a:r>
              <a:rPr lang="en-US" b="1"/>
              <a:t>CNN-based system to automatically classify aerial images into 3 distinct damage classes:</a:t>
            </a:r>
          </a:p>
          <a:p>
            <a:pPr marL="788670" lvl="1" indent="-285750">
              <a:buFont typeface="Arial" panose="020B0504020202020204" pitchFamily="34" charset="0"/>
              <a:buChar char="•"/>
            </a:pPr>
            <a:r>
              <a:rPr lang="en-US" b="1"/>
              <a:t>Intact</a:t>
            </a:r>
          </a:p>
          <a:p>
            <a:pPr marL="788670" lvl="1" indent="-285750">
              <a:buFont typeface="Arial" panose="020B0504020202020204" pitchFamily="34" charset="0"/>
              <a:buChar char="•"/>
            </a:pPr>
            <a:r>
              <a:rPr lang="en-US" b="1"/>
              <a:t>Major Damage</a:t>
            </a:r>
          </a:p>
          <a:p>
            <a:pPr marL="788670" lvl="1" indent="-285750">
              <a:buFont typeface="Arial" panose="020B0504020202020204" pitchFamily="34" charset="0"/>
              <a:buChar char="•"/>
            </a:pPr>
            <a:r>
              <a:rPr lang="en-US" b="1"/>
              <a:t>Structural Failure</a:t>
            </a:r>
          </a:p>
        </p:txBody>
      </p:sp>
      <p:pic>
        <p:nvPicPr>
          <p:cNvPr id="4" name="Picture 3" descr="A satellite on a bridge&#10;&#10;AI-generated content may be incorrect.">
            <a:extLst>
              <a:ext uri="{FF2B5EF4-FFF2-40B4-BE49-F238E27FC236}">
                <a16:creationId xmlns:a16="http://schemas.microsoft.com/office/drawing/2014/main" id="{54ABF585-CEC1-E437-1979-660D126D4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3" r="-5432" b="-5738"/>
          <a:stretch>
            <a:fillRect/>
          </a:stretch>
        </p:blipFill>
        <p:spPr>
          <a:xfrm>
            <a:off x="7887050" y="2130534"/>
            <a:ext cx="4287185" cy="343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3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40551-3756-A0F8-BB18-18CA3CC5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D70FA-496A-273A-3B50-A19E2CCC4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673" y="1711423"/>
            <a:ext cx="6509603" cy="45581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b="1"/>
              <a:t>LADI (Low-Altitude Disaster Imagery)</a:t>
            </a:r>
            <a:r>
              <a:rPr lang="en-US"/>
              <a:t>, publicly available </a:t>
            </a:r>
            <a:r>
              <a:rPr lang="en-US" b="1"/>
              <a:t>federal disaster imagery dataset</a:t>
            </a:r>
            <a:r>
              <a:rPr lang="en-US"/>
              <a:t> in the USA</a:t>
            </a:r>
          </a:p>
          <a:p>
            <a:endParaRPr lang="en-US" dirty="0"/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Collected by </a:t>
            </a:r>
            <a:r>
              <a:rPr lang="en-US" b="1"/>
              <a:t>Civil Air Patrol</a:t>
            </a:r>
            <a:r>
              <a:rPr lang="en-US"/>
              <a:t> using official FEMA Damage assessment criteria, </a:t>
            </a:r>
            <a:r>
              <a:rPr lang="en-US" b="1"/>
              <a:t>developed by MIT Lincoln Laboratory</a:t>
            </a:r>
          </a:p>
          <a:p>
            <a:endParaRPr lang="en-US"/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IN"/>
              <a:t>Total </a:t>
            </a:r>
            <a:r>
              <a:rPr lang="en-IN" b="1"/>
              <a:t>9,969 images</a:t>
            </a:r>
            <a:r>
              <a:rPr lang="en-IN"/>
              <a:t> in the dataset</a:t>
            </a:r>
            <a:r>
              <a:rPr lang="en-US"/>
              <a:t>, mapped into 3 damage classes, based on the </a:t>
            </a:r>
            <a:r>
              <a:rPr lang="en-US" b="1"/>
              <a:t>official FEMA preliminary Damage Assessment scale</a:t>
            </a:r>
          </a:p>
          <a:p>
            <a:endParaRPr lang="en-US"/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b="1"/>
              <a:t>Train, Validation and Test split</a:t>
            </a:r>
            <a:r>
              <a:rPr lang="en-US"/>
              <a:t> pre-defined by MIT Lincoln Laboratory following the </a:t>
            </a:r>
            <a:r>
              <a:rPr lang="en-US" b="1"/>
              <a:t>80/9/11 ratio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82287D-4083-26EF-9A4D-5DD8B4235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973028"/>
              </p:ext>
            </p:extLst>
          </p:nvPr>
        </p:nvGraphicFramePr>
        <p:xfrm>
          <a:off x="7823769" y="3252177"/>
          <a:ext cx="4002186" cy="207251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34062">
                  <a:extLst>
                    <a:ext uri="{9D8B030D-6E8A-4147-A177-3AD203B41FA5}">
                      <a16:colId xmlns:a16="http://schemas.microsoft.com/office/drawing/2014/main" val="2927909095"/>
                    </a:ext>
                  </a:extLst>
                </a:gridCol>
                <a:gridCol w="1334062">
                  <a:extLst>
                    <a:ext uri="{9D8B030D-6E8A-4147-A177-3AD203B41FA5}">
                      <a16:colId xmlns:a16="http://schemas.microsoft.com/office/drawing/2014/main" val="1000086423"/>
                    </a:ext>
                  </a:extLst>
                </a:gridCol>
                <a:gridCol w="1334062">
                  <a:extLst>
                    <a:ext uri="{9D8B030D-6E8A-4147-A177-3AD203B41FA5}">
                      <a16:colId xmlns:a16="http://schemas.microsoft.com/office/drawing/2014/main" val="188040383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Split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Total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Percentage</a:t>
                      </a: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4A66AC"/>
                      </a:solidFill>
                    </a:lnR>
                    <a:lnT w="9524">
                      <a:solidFill>
                        <a:srgbClr val="4A66AC"/>
                      </a:solidFill>
                    </a:lnT>
                    <a:lnB w="9524">
                      <a:solidFill>
                        <a:srgbClr val="4A66AC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21457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Train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8030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80%</a:t>
                      </a: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4A66AC"/>
                      </a:solidFill>
                    </a:lnR>
                    <a:lnT w="9524">
                      <a:solidFill>
                        <a:srgbClr val="4A66AC"/>
                      </a:solidFill>
                    </a:lnT>
                    <a:lnB w="9524">
                      <a:solidFill>
                        <a:srgbClr val="4A66AC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22136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Validation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890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9%</a:t>
                      </a: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4A66AC"/>
                      </a:solidFill>
                    </a:lnR>
                    <a:lnT w="9524">
                      <a:solidFill>
                        <a:srgbClr val="4A66AC"/>
                      </a:solidFill>
                    </a:lnT>
                    <a:lnB w="9524">
                      <a:solidFill>
                        <a:srgbClr val="4A66AC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73234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Test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1049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11%</a:t>
                      </a: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4A66AC"/>
                      </a:solidFill>
                    </a:lnR>
                    <a:lnT w="9524">
                      <a:solidFill>
                        <a:srgbClr val="4A66AC"/>
                      </a:solidFill>
                    </a:lnT>
                    <a:lnB w="9524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1428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Total</a:t>
                      </a:r>
                    </a:p>
                  </a:txBody>
                  <a:tcPr>
                    <a:lnL w="9524">
                      <a:solidFill>
                        <a:srgbClr val="4A66AC"/>
                      </a:solidFill>
                    </a:lnL>
                    <a:lnR w="9524">
                      <a:solidFill>
                        <a:srgbClr val="4A66AC"/>
                      </a:solidFill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4A66A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9969</a:t>
                      </a:r>
                    </a:p>
                  </a:txBody>
                  <a:tcPr>
                    <a:lnL w="9524">
                      <a:solidFill>
                        <a:srgbClr val="4A66AC"/>
                      </a:solidFill>
                    </a:lnL>
                    <a:lnR w="9524">
                      <a:solidFill>
                        <a:srgbClr val="4A66AC"/>
                      </a:solidFill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4A66A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endParaRPr lang="en-US" sz="1800" b="0" i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>
                    <a:lnL w="9524">
                      <a:solidFill>
                        <a:srgbClr val="4A66AC"/>
                      </a:solidFill>
                    </a:lnL>
                    <a:lnR w="9524">
                      <a:solidFill>
                        <a:srgbClr val="4A66AC"/>
                      </a:solidFill>
                    </a:lnR>
                    <a:lnT w="9524">
                      <a:solidFill>
                        <a:srgbClr val="4A66AC"/>
                      </a:solidFill>
                    </a:lnT>
                    <a:lnB w="9524">
                      <a:solidFill>
                        <a:srgbClr val="4A66AC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858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258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5F27-D3BE-7B36-0A1D-95EFE20A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Class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119AE-AF8B-C3AA-4152-C9F224D67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6861294" cy="45581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Class distribution show severe imbalance, dominated by the Intact damage class 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Model predicting every image as Intact, achieving 81.5% accuracy is misleading for the imbalanced data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Macro F1 score chosen as the primary evaluation metrics, to treat all three classes with equal importance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F607FF-7206-8D9A-B8DE-0C5DA772B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628655"/>
              </p:ext>
            </p:extLst>
          </p:nvPr>
        </p:nvGraphicFramePr>
        <p:xfrm>
          <a:off x="2300572" y="4362401"/>
          <a:ext cx="4438650" cy="153289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548113558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8749275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226423189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305047731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31745296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Split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Intact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Major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Damage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Structural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Failure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Total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0146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Train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6,542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476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1012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8030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54816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Validation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710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65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115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890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0461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Test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1,001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1049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636544"/>
                  </a:ext>
                </a:extLst>
              </a:tr>
            </a:tbl>
          </a:graphicData>
        </a:graphic>
      </p:graphicFrame>
      <p:pic>
        <p:nvPicPr>
          <p:cNvPr id="6" name="Picture 5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42DB650A-92D3-76E4-988E-5510103C74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30" t="-2267" r="-901" b="-1707"/>
          <a:stretch>
            <a:fillRect/>
          </a:stretch>
        </p:blipFill>
        <p:spPr>
          <a:xfrm>
            <a:off x="7890520" y="1432729"/>
            <a:ext cx="4308168" cy="397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1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78F9-517A-951C-8F33-FCDCD3A27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810195"/>
            <a:ext cx="10840626" cy="692818"/>
          </a:xfrm>
        </p:spPr>
        <p:txBody>
          <a:bodyPr/>
          <a:lstStyle/>
          <a:p>
            <a:r>
              <a:rPr lang="en-US" sz="3200"/>
              <a:t>Custom Preprocessing pipel</a:t>
            </a:r>
            <a:r>
              <a:rPr lang="en-US" sz="3200">
                <a:solidFill>
                  <a:srgbClr val="000000"/>
                </a:solidFill>
                <a:latin typeface="Neue Haas Grotesk Text Pro"/>
              </a:rPr>
              <a:t>ine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C1AF0-0243-66B2-9575-37964FDA1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574653"/>
            <a:ext cx="10840627" cy="48642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All preprocessing functions backed by peer-reviewed research articles in aerial and remote sensing imagery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Every image in the dataset, pushed through this pipeline before model training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058167-68B7-46C3-51FE-3D5BBBE7E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956127"/>
              </p:ext>
            </p:extLst>
          </p:nvPr>
        </p:nvGraphicFramePr>
        <p:xfrm>
          <a:off x="3498403" y="2306944"/>
          <a:ext cx="6016389" cy="19244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97059">
                  <a:extLst>
                    <a:ext uri="{9D8B030D-6E8A-4147-A177-3AD203B41FA5}">
                      <a16:colId xmlns:a16="http://schemas.microsoft.com/office/drawing/2014/main" val="1639317674"/>
                    </a:ext>
                  </a:extLst>
                </a:gridCol>
                <a:gridCol w="2059665">
                  <a:extLst>
                    <a:ext uri="{9D8B030D-6E8A-4147-A177-3AD203B41FA5}">
                      <a16:colId xmlns:a16="http://schemas.microsoft.com/office/drawing/2014/main" val="1882014574"/>
                    </a:ext>
                  </a:extLst>
                </a:gridCol>
                <a:gridCol w="2059665">
                  <a:extLst>
                    <a:ext uri="{9D8B030D-6E8A-4147-A177-3AD203B41FA5}">
                      <a16:colId xmlns:a16="http://schemas.microsoft.com/office/drawing/2014/main" val="3800451594"/>
                    </a:ext>
                  </a:extLst>
                </a:gridCol>
              </a:tblGrid>
              <a:tr h="308738"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Function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Purpose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Reference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123502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Gaussian Blur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Remove Sensor noise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err="1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Hanzla</a:t>
                      </a: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 et al., Frontiers 2024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536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2335935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Histogram Equalization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Improve image contrast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err="1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Hanzla</a:t>
                      </a: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 et al., Frontiers 2024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963548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HSV Color Transform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Separate any damage signatures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PMC HSVGLCM UAV study 2024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6500238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Resize image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Standardizing the input image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050" b="0" i="0" err="1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Abdelmonem</a:t>
                      </a: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 et al., Scientific Reports 2025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entury Gothic"/>
                      </a:endParaRPr>
                    </a:p>
                  </a:txBody>
                  <a:tcPr>
                    <a:lnL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6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027810"/>
                  </a:ext>
                </a:extLst>
              </a:tr>
            </a:tbl>
          </a:graphicData>
        </a:graphic>
      </p:graphicFrame>
      <p:pic>
        <p:nvPicPr>
          <p:cNvPr id="6" name="Picture 5" descr="A close-up of a line&#10;&#10;AI-generated content may be incorrect.">
            <a:extLst>
              <a:ext uri="{FF2B5EF4-FFF2-40B4-BE49-F238E27FC236}">
                <a16:creationId xmlns:a16="http://schemas.microsoft.com/office/drawing/2014/main" id="{4176B3F1-0476-035A-500D-23BD7730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30" y="4340468"/>
            <a:ext cx="1149667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20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2812-725D-9ED0-D96D-CCB1D00EF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369495"/>
            <a:ext cx="6767220" cy="543023"/>
          </a:xfrm>
        </p:spPr>
        <p:txBody>
          <a:bodyPr>
            <a:normAutofit/>
          </a:bodyPr>
          <a:lstStyle/>
          <a:p>
            <a:r>
              <a:rPr lang="en-US" sz="2800"/>
              <a:t>Base Custom CNN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2BD5B-6A22-90B5-CC04-0195F863B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854" y="1229475"/>
            <a:ext cx="5643397" cy="23893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Built with 4 convolutional blocks with filters 32, 64, 128 and 256, with no pre-trained weights</a:t>
            </a:r>
          </a:p>
          <a:p>
            <a:endParaRPr lang="en-US"/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Each block has Conv2D for feature extraction, Batch Normalization for training stability, </a:t>
            </a:r>
            <a:r>
              <a:rPr lang="en-US" err="1"/>
              <a:t>MaxPooling</a:t>
            </a:r>
            <a:r>
              <a:rPr lang="en-US"/>
              <a:t> to reduce spatial dimensions and </a:t>
            </a:r>
            <a:r>
              <a:rPr lang="en-US" err="1"/>
              <a:t>DropOut</a:t>
            </a:r>
            <a:r>
              <a:rPr lang="en-US"/>
              <a:t> to prevent overfitting.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C3CB7B-3AE3-3BAE-B4D9-6E92F5D47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372252"/>
              </p:ext>
            </p:extLst>
          </p:nvPr>
        </p:nvGraphicFramePr>
        <p:xfrm>
          <a:off x="1791025" y="3621127"/>
          <a:ext cx="3749376" cy="301226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74688">
                  <a:extLst>
                    <a:ext uri="{9D8B030D-6E8A-4147-A177-3AD203B41FA5}">
                      <a16:colId xmlns:a16="http://schemas.microsoft.com/office/drawing/2014/main" val="3625741310"/>
                    </a:ext>
                  </a:extLst>
                </a:gridCol>
                <a:gridCol w="1874688">
                  <a:extLst>
                    <a:ext uri="{9D8B030D-6E8A-4147-A177-3AD203B41FA5}">
                      <a16:colId xmlns:a16="http://schemas.microsoft.com/office/drawing/2014/main" val="295536098"/>
                    </a:ext>
                  </a:extLst>
                </a:gridCol>
              </a:tblGrid>
              <a:tr h="215199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558947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r>
                        <a:rPr lang="en-US" sz="1000"/>
                        <a:t>Input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224x224x3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66707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r>
                        <a:rPr lang="en-US" sz="1000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Adam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16244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r>
                        <a:rPr lang="en-US" sz="100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1e-4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712727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r>
                        <a:rPr lang="en-US" sz="1000"/>
                        <a:t>Loss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Focal Loss = 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221554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r>
                        <a:rPr lang="en-US" sz="100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33 (11 per class)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556252"/>
                  </a:ext>
                </a:extLst>
              </a:tr>
              <a:tr h="286932">
                <a:tc>
                  <a:txBody>
                    <a:bodyPr/>
                    <a:lstStyle/>
                    <a:p>
                      <a:r>
                        <a:rPr lang="en-US" sz="1000"/>
                        <a:t>Early Stopping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Patience = 8 – Val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193941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r>
                        <a:rPr lang="en-US" sz="1000"/>
                        <a:t>LR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Patience = 4 – Factor=0.5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289611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Dropout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0.25-0.30-0.40-0.50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427789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Epochs(Max)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104454"/>
                  </a:ext>
                </a:extLst>
              </a:tr>
              <a:tr h="2869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Loss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Categorical Cross Entropy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592561"/>
                  </a:ext>
                </a:extLst>
              </a:tr>
              <a:tr h="2151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 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Softmax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565265"/>
                  </a:ext>
                </a:extLst>
              </a:tr>
            </a:tbl>
          </a:graphicData>
        </a:graphic>
      </p:graphicFrame>
      <p:pic>
        <p:nvPicPr>
          <p:cNvPr id="13" name="Picture 12" descr="A black and white diagram with black text&#10;&#10;AI-generated content may be incorrect.">
            <a:extLst>
              <a:ext uri="{FF2B5EF4-FFF2-40B4-BE49-F238E27FC236}">
                <a16:creationId xmlns:a16="http://schemas.microsoft.com/office/drawing/2014/main" id="{960F72F9-1657-4528-995F-75D471BBA6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899" t="-974" r="-4348" b="-866"/>
          <a:stretch>
            <a:fillRect/>
          </a:stretch>
        </p:blipFill>
        <p:spPr>
          <a:xfrm>
            <a:off x="7855808" y="373402"/>
            <a:ext cx="3377742" cy="612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71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20BF-9907-D997-CC4C-F20107532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13" y="523631"/>
            <a:ext cx="3839344" cy="477895"/>
          </a:xfrm>
        </p:spPr>
        <p:txBody>
          <a:bodyPr>
            <a:normAutofit fontScale="90000"/>
          </a:bodyPr>
          <a:lstStyle/>
          <a:p>
            <a:r>
              <a:rPr lang="en-US" sz="2800"/>
              <a:t>Base CNN Results 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ACDDA-8C7B-BE5C-F217-F0F1283A8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212" y="1203424"/>
            <a:ext cx="4966063" cy="11454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Overall Test Accuracy of 100%, where the model predicted everything as Intact due to severe class imbalance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D9219B-6E04-0D9F-7038-133F4A3D6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612855"/>
              </p:ext>
            </p:extLst>
          </p:nvPr>
        </p:nvGraphicFramePr>
        <p:xfrm>
          <a:off x="1419794" y="2422769"/>
          <a:ext cx="3255784" cy="2042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3946">
                  <a:extLst>
                    <a:ext uri="{9D8B030D-6E8A-4147-A177-3AD203B41FA5}">
                      <a16:colId xmlns:a16="http://schemas.microsoft.com/office/drawing/2014/main" val="1919584492"/>
                    </a:ext>
                  </a:extLst>
                </a:gridCol>
                <a:gridCol w="813946">
                  <a:extLst>
                    <a:ext uri="{9D8B030D-6E8A-4147-A177-3AD203B41FA5}">
                      <a16:colId xmlns:a16="http://schemas.microsoft.com/office/drawing/2014/main" val="3246732996"/>
                    </a:ext>
                  </a:extLst>
                </a:gridCol>
                <a:gridCol w="813946">
                  <a:extLst>
                    <a:ext uri="{9D8B030D-6E8A-4147-A177-3AD203B41FA5}">
                      <a16:colId xmlns:a16="http://schemas.microsoft.com/office/drawing/2014/main" val="3414877543"/>
                    </a:ext>
                  </a:extLst>
                </a:gridCol>
                <a:gridCol w="813946">
                  <a:extLst>
                    <a:ext uri="{9D8B030D-6E8A-4147-A177-3AD203B41FA5}">
                      <a16:colId xmlns:a16="http://schemas.microsoft.com/office/drawing/2014/main" val="2613287646"/>
                    </a:ext>
                  </a:extLst>
                </a:gridCol>
              </a:tblGrid>
              <a:tr h="335502">
                <a:tc>
                  <a:txBody>
                    <a:bodyPr/>
                    <a:lstStyle/>
                    <a:p>
                      <a:r>
                        <a:rPr lang="en-US" sz="1100" b="1"/>
                        <a:t>Class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Precision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Recall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F1 Score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534988"/>
                  </a:ext>
                </a:extLst>
              </a:tr>
              <a:tr h="335502">
                <a:tc>
                  <a:txBody>
                    <a:bodyPr/>
                    <a:lstStyle/>
                    <a:p>
                      <a:r>
                        <a:rPr lang="en-US" sz="1100" b="1"/>
                        <a:t>Intact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547786"/>
                  </a:ext>
                </a:extLst>
              </a:tr>
              <a:tr h="377438">
                <a:tc>
                  <a:txBody>
                    <a:bodyPr/>
                    <a:lstStyle/>
                    <a:p>
                      <a:r>
                        <a:rPr lang="en-US" sz="1100" b="1"/>
                        <a:t>Major Damage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847481"/>
                  </a:ext>
                </a:extLst>
              </a:tr>
              <a:tr h="377438">
                <a:tc>
                  <a:txBody>
                    <a:bodyPr/>
                    <a:lstStyle/>
                    <a:p>
                      <a:r>
                        <a:rPr lang="en-US" sz="1100" b="1"/>
                        <a:t>Structural Failure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948321"/>
                  </a:ext>
                </a:extLst>
              </a:tr>
              <a:tr h="377438">
                <a:tc>
                  <a:txBody>
                    <a:bodyPr/>
                    <a:lstStyle/>
                    <a:p>
                      <a:r>
                        <a:rPr lang="en-US" sz="1100" b="1"/>
                        <a:t>Macro Average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39320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07C0C6-9B73-2929-9166-EC2F22207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891955"/>
              </p:ext>
            </p:extLst>
          </p:nvPr>
        </p:nvGraphicFramePr>
        <p:xfrm>
          <a:off x="1725897" y="4682717"/>
          <a:ext cx="2648950" cy="1758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475">
                  <a:extLst>
                    <a:ext uri="{9D8B030D-6E8A-4147-A177-3AD203B41FA5}">
                      <a16:colId xmlns:a16="http://schemas.microsoft.com/office/drawing/2014/main" val="688661145"/>
                    </a:ext>
                  </a:extLst>
                </a:gridCol>
                <a:gridCol w="1324475">
                  <a:extLst>
                    <a:ext uri="{9D8B030D-6E8A-4147-A177-3AD203B41FA5}">
                      <a16:colId xmlns:a16="http://schemas.microsoft.com/office/drawing/2014/main" val="3213387899"/>
                    </a:ext>
                  </a:extLst>
                </a:gridCol>
              </a:tblGrid>
              <a:tr h="315754">
                <a:tc>
                  <a:txBody>
                    <a:bodyPr/>
                    <a:lstStyle/>
                    <a:p>
                      <a:r>
                        <a:rPr lang="en-US" sz="1100" b="1"/>
                        <a:t>Metric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Value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19279"/>
                  </a:ext>
                </a:extLst>
              </a:tr>
              <a:tr h="294704">
                <a:tc>
                  <a:txBody>
                    <a:bodyPr/>
                    <a:lstStyle/>
                    <a:p>
                      <a:r>
                        <a:rPr lang="en-US" sz="1100" b="1" err="1"/>
                        <a:t>Test_ACC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633799"/>
                  </a:ext>
                </a:extLst>
              </a:tr>
              <a:tr h="294704">
                <a:tc>
                  <a:txBody>
                    <a:bodyPr/>
                    <a:lstStyle/>
                    <a:p>
                      <a:r>
                        <a:rPr lang="en-US" sz="1100" b="1"/>
                        <a:t>Macro F1</a:t>
                      </a:r>
                      <a:endParaRPr lang="en-US" sz="1100" b="1" err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753087"/>
                  </a:ext>
                </a:extLst>
              </a:tr>
              <a:tr h="378903">
                <a:tc>
                  <a:txBody>
                    <a:bodyPr/>
                    <a:lstStyle/>
                    <a:p>
                      <a:r>
                        <a:rPr lang="en-US" sz="1100" b="1" err="1"/>
                        <a:t>Major_Damage_Detect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588466"/>
                  </a:ext>
                </a:extLst>
              </a:tr>
              <a:tr h="378903">
                <a:tc>
                  <a:txBody>
                    <a:bodyPr/>
                    <a:lstStyle/>
                    <a:p>
                      <a:r>
                        <a:rPr lang="en-US" sz="1100" b="1" err="1"/>
                        <a:t>Structure_Failure</a:t>
                      </a:r>
                      <a:r>
                        <a:rPr lang="en-US" sz="1100" b="1"/>
                        <a:t> Detect</a:t>
                      </a:r>
                      <a:endParaRPr lang="en-US" sz="1100" b="1" err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075112"/>
                  </a:ext>
                </a:extLst>
              </a:tr>
            </a:tbl>
          </a:graphicData>
        </a:graphic>
      </p:graphicFrame>
      <p:pic>
        <p:nvPicPr>
          <p:cNvPr id="6" name="Picture 5" descr="A graph with blue dots and white text&#10;&#10;AI-generated content may be incorrect.">
            <a:extLst>
              <a:ext uri="{FF2B5EF4-FFF2-40B4-BE49-F238E27FC236}">
                <a16:creationId xmlns:a16="http://schemas.microsoft.com/office/drawing/2014/main" id="{F28948C5-93B1-67B5-2F94-EB4E0F2E62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090" t="-6624" r="-7729" b="-3681"/>
          <a:stretch>
            <a:fillRect/>
          </a:stretch>
        </p:blipFill>
        <p:spPr>
          <a:xfrm>
            <a:off x="6503920" y="324218"/>
            <a:ext cx="4239498" cy="3358057"/>
          </a:xfrm>
          <a:prstGeom prst="rect">
            <a:avLst/>
          </a:prstGeom>
        </p:spPr>
      </p:pic>
      <p:pic>
        <p:nvPicPr>
          <p:cNvPr id="7" name="Picture 6" descr="A graph with blue dots&#10;&#10;AI-generated content may be incorrect.">
            <a:extLst>
              <a:ext uri="{FF2B5EF4-FFF2-40B4-BE49-F238E27FC236}">
                <a16:creationId xmlns:a16="http://schemas.microsoft.com/office/drawing/2014/main" id="{A74F9F63-8F3E-75CF-B234-54028167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807" t="-1485" r="-6732" b="-4247"/>
          <a:stretch>
            <a:fillRect/>
          </a:stretch>
        </p:blipFill>
        <p:spPr>
          <a:xfrm>
            <a:off x="6692153" y="3639435"/>
            <a:ext cx="4045342" cy="306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2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FC16-AE91-3FF0-3D47-C3D8F7E46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04092"/>
            <a:ext cx="9609703" cy="595126"/>
          </a:xfrm>
        </p:spPr>
        <p:txBody>
          <a:bodyPr>
            <a:normAutofit/>
          </a:bodyPr>
          <a:lstStyle/>
          <a:p>
            <a:r>
              <a:rPr lang="en-US" sz="3100"/>
              <a:t>Strateg</a:t>
            </a:r>
            <a:r>
              <a:rPr lang="en-US" sz="3100">
                <a:solidFill>
                  <a:srgbClr val="000000"/>
                </a:solidFill>
                <a:latin typeface="Neue Haas Grotesk Text Pro"/>
              </a:rPr>
              <a:t>ies</a:t>
            </a:r>
            <a:r>
              <a:rPr lang="en-US" sz="3100"/>
              <a:t> to address class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96337-4889-A068-09AB-E4DE67979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522551"/>
            <a:ext cx="10840627" cy="8393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dirty="0"/>
              <a:t>5 out of 7 strategies failed to detect minority classes, </a:t>
            </a:r>
            <a:r>
              <a:rPr lang="en-US" dirty="0" err="1"/>
              <a:t>breakthorugh</a:t>
            </a:r>
            <a:r>
              <a:rPr lang="en-US" dirty="0"/>
              <a:t> when focal loss combined with macro f1 monitoring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1E0AB4-CF67-19A7-A2F1-C315078B7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819269"/>
              </p:ext>
            </p:extLst>
          </p:nvPr>
        </p:nvGraphicFramePr>
        <p:xfrm>
          <a:off x="1322103" y="2364154"/>
          <a:ext cx="9381145" cy="427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3496">
                  <a:extLst>
                    <a:ext uri="{9D8B030D-6E8A-4147-A177-3AD203B41FA5}">
                      <a16:colId xmlns:a16="http://schemas.microsoft.com/office/drawing/2014/main" val="4271099296"/>
                    </a:ext>
                  </a:extLst>
                </a:gridCol>
                <a:gridCol w="3037042">
                  <a:extLst>
                    <a:ext uri="{9D8B030D-6E8A-4147-A177-3AD203B41FA5}">
                      <a16:colId xmlns:a16="http://schemas.microsoft.com/office/drawing/2014/main" val="3805471297"/>
                    </a:ext>
                  </a:extLst>
                </a:gridCol>
                <a:gridCol w="1164360">
                  <a:extLst>
                    <a:ext uri="{9D8B030D-6E8A-4147-A177-3AD203B41FA5}">
                      <a16:colId xmlns:a16="http://schemas.microsoft.com/office/drawing/2014/main" val="1839301336"/>
                    </a:ext>
                  </a:extLst>
                </a:gridCol>
                <a:gridCol w="994556">
                  <a:extLst>
                    <a:ext uri="{9D8B030D-6E8A-4147-A177-3AD203B41FA5}">
                      <a16:colId xmlns:a16="http://schemas.microsoft.com/office/drawing/2014/main" val="3198482531"/>
                    </a:ext>
                  </a:extLst>
                </a:gridCol>
                <a:gridCol w="970300">
                  <a:extLst>
                    <a:ext uri="{9D8B030D-6E8A-4147-A177-3AD203B41FA5}">
                      <a16:colId xmlns:a16="http://schemas.microsoft.com/office/drawing/2014/main" val="3194945351"/>
                    </a:ext>
                  </a:extLst>
                </a:gridCol>
                <a:gridCol w="1261391">
                  <a:extLst>
                    <a:ext uri="{9D8B030D-6E8A-4147-A177-3AD203B41FA5}">
                      <a16:colId xmlns:a16="http://schemas.microsoft.com/office/drawing/2014/main" val="3290835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>Strategy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Purpose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Intact F1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MD F1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SF F1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Macro F1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437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>Baseline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 Imbalance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341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>Class Weights </a:t>
                      </a:r>
                      <a:r>
                        <a:rPr lang="en-US" sz="1400" b="1" err="1"/>
                        <a:t>Val_Acc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err="1"/>
                        <a:t>Compute_class_weight</a:t>
                      </a:r>
                      <a:r>
                        <a:rPr lang="en-US" sz="1400"/>
                        <a:t> 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30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>Class Weights </a:t>
                      </a:r>
                      <a:r>
                        <a:rPr lang="en-US" sz="1400" b="1" err="1"/>
                        <a:t>Val_Loss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Switched to monitor </a:t>
                      </a:r>
                      <a:r>
                        <a:rPr lang="en-US" sz="1400" err="1"/>
                        <a:t>val_loss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02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>Focal Loss + Balanced Generator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Gamma = 2.0 + 11 per class per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719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>Threshold Adjustment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Automatic threshold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31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>Focal Loss + Macro F1 + Balanced Generator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Gamma = 2.0 + val_macro_f1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83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>Targeted + Validation Augmentation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MD 476 – 9044 (x19), SF 1,012 – 11,132 (x11), resizing to 160x160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098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493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C687E-980C-4128-786A-909A51092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B9B37-0107-A026-4DC0-234AF7312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548" y="369495"/>
            <a:ext cx="6767220" cy="543023"/>
          </a:xfrm>
        </p:spPr>
        <p:txBody>
          <a:bodyPr>
            <a:normAutofit/>
          </a:bodyPr>
          <a:lstStyle/>
          <a:p>
            <a:r>
              <a:rPr lang="en-US" sz="2800"/>
              <a:t>VGG-16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09A6D-6037-D85A-29AC-6D73813D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753" y="1178179"/>
            <a:ext cx="3783716" cy="22098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400"/>
              <a:t>3 and 4 blocks use triple stacked Conv2D layers, giving 12 convolutional layers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400"/>
              <a:t>Trained on original </a:t>
            </a:r>
            <a:r>
              <a:rPr lang="en-US" sz="1400" err="1"/>
              <a:t>unaugmented</a:t>
            </a:r>
            <a:r>
              <a:rPr lang="en-US" sz="1400"/>
              <a:t> data with same hyper parameters as base CNN, minority class remain undetected even with deeper architecture</a:t>
            </a:r>
          </a:p>
        </p:txBody>
      </p:sp>
      <p:pic>
        <p:nvPicPr>
          <p:cNvPr id="5" name="Picture 4" descr="A black and white diagram with black text&#10;&#10;AI-generated content may be incorrect.">
            <a:extLst>
              <a:ext uri="{FF2B5EF4-FFF2-40B4-BE49-F238E27FC236}">
                <a16:creationId xmlns:a16="http://schemas.microsoft.com/office/drawing/2014/main" id="{23890503-BE02-5367-C61F-13499C6937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963" t="-2715" r="-2593" b="-3633"/>
          <a:stretch>
            <a:fillRect/>
          </a:stretch>
        </p:blipFill>
        <p:spPr>
          <a:xfrm>
            <a:off x="8803455" y="367554"/>
            <a:ext cx="2997310" cy="569191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9909B2-1144-7E8B-3688-23721B1B6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788716"/>
              </p:ext>
            </p:extLst>
          </p:nvPr>
        </p:nvGraphicFramePr>
        <p:xfrm>
          <a:off x="5333203" y="1353888"/>
          <a:ext cx="2986800" cy="2301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700">
                  <a:extLst>
                    <a:ext uri="{9D8B030D-6E8A-4147-A177-3AD203B41FA5}">
                      <a16:colId xmlns:a16="http://schemas.microsoft.com/office/drawing/2014/main" val="1919584492"/>
                    </a:ext>
                  </a:extLst>
                </a:gridCol>
                <a:gridCol w="746700">
                  <a:extLst>
                    <a:ext uri="{9D8B030D-6E8A-4147-A177-3AD203B41FA5}">
                      <a16:colId xmlns:a16="http://schemas.microsoft.com/office/drawing/2014/main" val="3246732996"/>
                    </a:ext>
                  </a:extLst>
                </a:gridCol>
                <a:gridCol w="746700">
                  <a:extLst>
                    <a:ext uri="{9D8B030D-6E8A-4147-A177-3AD203B41FA5}">
                      <a16:colId xmlns:a16="http://schemas.microsoft.com/office/drawing/2014/main" val="3414877543"/>
                    </a:ext>
                  </a:extLst>
                </a:gridCol>
                <a:gridCol w="746700">
                  <a:extLst>
                    <a:ext uri="{9D8B030D-6E8A-4147-A177-3AD203B41FA5}">
                      <a16:colId xmlns:a16="http://schemas.microsoft.com/office/drawing/2014/main" val="2613287646"/>
                    </a:ext>
                  </a:extLst>
                </a:gridCol>
              </a:tblGrid>
              <a:tr h="414803">
                <a:tc>
                  <a:txBody>
                    <a:bodyPr/>
                    <a:lstStyle/>
                    <a:p>
                      <a:r>
                        <a:rPr lang="en-US" sz="1100" b="1"/>
                        <a:t>Class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Precision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Recall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F1 Score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534988"/>
                  </a:ext>
                </a:extLst>
              </a:tr>
              <a:tr h="251064">
                <a:tc>
                  <a:txBody>
                    <a:bodyPr/>
                    <a:lstStyle/>
                    <a:p>
                      <a:r>
                        <a:rPr lang="en-US" sz="1100" b="1"/>
                        <a:t>Intact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547786"/>
                  </a:ext>
                </a:extLst>
              </a:tr>
              <a:tr h="414803">
                <a:tc>
                  <a:txBody>
                    <a:bodyPr/>
                    <a:lstStyle/>
                    <a:p>
                      <a:r>
                        <a:rPr lang="en-US" sz="1100" b="1"/>
                        <a:t>Major Damage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847481"/>
                  </a:ext>
                </a:extLst>
              </a:tr>
              <a:tr h="578541">
                <a:tc>
                  <a:txBody>
                    <a:bodyPr/>
                    <a:lstStyle/>
                    <a:p>
                      <a:r>
                        <a:rPr lang="en-US" sz="1100" b="1"/>
                        <a:t>Structural Failure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948321"/>
                  </a:ext>
                </a:extLst>
              </a:tr>
              <a:tr h="414803">
                <a:tc>
                  <a:txBody>
                    <a:bodyPr/>
                    <a:lstStyle/>
                    <a:p>
                      <a:r>
                        <a:rPr lang="en-US" sz="1100" b="1"/>
                        <a:t>Macro Average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39320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CC2B9F-33AC-1567-CF6F-BB885EF8A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96966"/>
              </p:ext>
            </p:extLst>
          </p:nvPr>
        </p:nvGraphicFramePr>
        <p:xfrm>
          <a:off x="6824852" y="4009962"/>
          <a:ext cx="1981648" cy="19644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5167">
                  <a:extLst>
                    <a:ext uri="{9D8B030D-6E8A-4147-A177-3AD203B41FA5}">
                      <a16:colId xmlns:a16="http://schemas.microsoft.com/office/drawing/2014/main" val="688661145"/>
                    </a:ext>
                  </a:extLst>
                </a:gridCol>
                <a:gridCol w="836481">
                  <a:extLst>
                    <a:ext uri="{9D8B030D-6E8A-4147-A177-3AD203B41FA5}">
                      <a16:colId xmlns:a16="http://schemas.microsoft.com/office/drawing/2014/main" val="3213387899"/>
                    </a:ext>
                  </a:extLst>
                </a:gridCol>
              </a:tblGrid>
              <a:tr h="346669">
                <a:tc>
                  <a:txBody>
                    <a:bodyPr/>
                    <a:lstStyle/>
                    <a:p>
                      <a:r>
                        <a:rPr lang="en-US" sz="1100" b="1"/>
                        <a:t>Metric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Value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19279"/>
                  </a:ext>
                </a:extLst>
              </a:tr>
              <a:tr h="308149">
                <a:tc>
                  <a:txBody>
                    <a:bodyPr/>
                    <a:lstStyle/>
                    <a:p>
                      <a:r>
                        <a:rPr lang="en-US" sz="1100" b="1" err="1"/>
                        <a:t>Test_ACC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94.66%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633799"/>
                  </a:ext>
                </a:extLst>
              </a:tr>
              <a:tr h="308149">
                <a:tc>
                  <a:txBody>
                    <a:bodyPr/>
                    <a:lstStyle/>
                    <a:p>
                      <a:r>
                        <a:rPr lang="en-US" sz="1100" b="1"/>
                        <a:t>Macro F1</a:t>
                      </a:r>
                      <a:endParaRPr lang="en-US" sz="1100" b="1" err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753087"/>
                  </a:ext>
                </a:extLst>
              </a:tr>
              <a:tr h="500744">
                <a:tc>
                  <a:txBody>
                    <a:bodyPr/>
                    <a:lstStyle/>
                    <a:p>
                      <a:r>
                        <a:rPr lang="en-US" sz="1100" b="1" err="1"/>
                        <a:t>Major_Damage_Detect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588466"/>
                  </a:ext>
                </a:extLst>
              </a:tr>
              <a:tr h="500744">
                <a:tc>
                  <a:txBody>
                    <a:bodyPr/>
                    <a:lstStyle/>
                    <a:p>
                      <a:r>
                        <a:rPr lang="en-US" sz="1100" b="1" err="1"/>
                        <a:t>Structure_Failure</a:t>
                      </a:r>
                      <a:r>
                        <a:rPr lang="en-US" sz="1100" b="1"/>
                        <a:t> Detect</a:t>
                      </a:r>
                      <a:endParaRPr lang="en-US" sz="1100" b="1" err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075112"/>
                  </a:ext>
                </a:extLst>
              </a:tr>
            </a:tbl>
          </a:graphicData>
        </a:graphic>
      </p:graphicFrame>
      <p:pic>
        <p:nvPicPr>
          <p:cNvPr id="10" name="Picture 9" descr="A graph of a line graph&#10;&#10;AI-generated content may be incorrect.">
            <a:extLst>
              <a:ext uri="{FF2B5EF4-FFF2-40B4-BE49-F238E27FC236}">
                <a16:creationId xmlns:a16="http://schemas.microsoft.com/office/drawing/2014/main" id="{AECC4FB1-E812-312F-BE1D-F6C9921541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734" t="-3386" r="-3611" b="-3275"/>
          <a:stretch>
            <a:fillRect/>
          </a:stretch>
        </p:blipFill>
        <p:spPr>
          <a:xfrm>
            <a:off x="3390499" y="3781314"/>
            <a:ext cx="3229480" cy="2650610"/>
          </a:xfrm>
          <a:prstGeom prst="rect">
            <a:avLst/>
          </a:prstGeom>
        </p:spPr>
      </p:pic>
      <p:pic>
        <p:nvPicPr>
          <p:cNvPr id="11" name="Picture 10" descr="A graph with blue lines&#10;&#10;AI-generated content may be incorrect.">
            <a:extLst>
              <a:ext uri="{FF2B5EF4-FFF2-40B4-BE49-F238E27FC236}">
                <a16:creationId xmlns:a16="http://schemas.microsoft.com/office/drawing/2014/main" id="{C08F4FD9-7468-F1FB-CBFD-3CC6E1875C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062" t="-2105" r="206" b="-5307"/>
          <a:stretch>
            <a:fillRect/>
          </a:stretch>
        </p:blipFill>
        <p:spPr>
          <a:xfrm>
            <a:off x="302807" y="3830592"/>
            <a:ext cx="3081663" cy="255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27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F0375-D833-66D5-A075-DEE1ACE35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D3A8-821E-37A8-8AE9-8218B5D16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369495"/>
            <a:ext cx="6767220" cy="543023"/>
          </a:xfrm>
        </p:spPr>
        <p:txBody>
          <a:bodyPr>
            <a:normAutofit/>
          </a:bodyPr>
          <a:lstStyle/>
          <a:p>
            <a:r>
              <a:rPr lang="en-US" sz="2800"/>
              <a:t>Resnet-18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9BE49-4CBF-7FB2-F3FA-8AC0CB17F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365" y="945752"/>
            <a:ext cx="3524309" cy="107840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400"/>
              <a:t>3 residual blocks, skip connections add block input to output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400"/>
              <a:t>Trained on augmented dataset at 160x160x3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BB697F-D8CA-3A8F-7E37-EEE4A7C68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972866"/>
              </p:ext>
            </p:extLst>
          </p:nvPr>
        </p:nvGraphicFramePr>
        <p:xfrm>
          <a:off x="756080" y="2194427"/>
          <a:ext cx="2548327" cy="177968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36819">
                  <a:extLst>
                    <a:ext uri="{9D8B030D-6E8A-4147-A177-3AD203B41FA5}">
                      <a16:colId xmlns:a16="http://schemas.microsoft.com/office/drawing/2014/main" val="3625741310"/>
                    </a:ext>
                  </a:extLst>
                </a:gridCol>
                <a:gridCol w="1511508">
                  <a:extLst>
                    <a:ext uri="{9D8B030D-6E8A-4147-A177-3AD203B41FA5}">
                      <a16:colId xmlns:a16="http://schemas.microsoft.com/office/drawing/2014/main" val="295536098"/>
                    </a:ext>
                  </a:extLst>
                </a:gridCol>
              </a:tblGrid>
              <a:tr h="202191"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558947"/>
                  </a:ext>
                </a:extLst>
              </a:tr>
              <a:tr h="202191">
                <a:tc>
                  <a:txBody>
                    <a:bodyPr/>
                    <a:lstStyle/>
                    <a:p>
                      <a:r>
                        <a:rPr lang="en-US" sz="800" b="1"/>
                        <a:t>Input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160x160x3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66707"/>
                  </a:ext>
                </a:extLst>
              </a:tr>
              <a:tr h="202191">
                <a:tc>
                  <a:txBody>
                    <a:bodyPr/>
                    <a:lstStyle/>
                    <a:p>
                      <a:r>
                        <a:rPr lang="en-US" sz="800" b="1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Adam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16244"/>
                  </a:ext>
                </a:extLst>
              </a:tr>
              <a:tr h="202191">
                <a:tc>
                  <a:txBody>
                    <a:bodyPr/>
                    <a:lstStyle/>
                    <a:p>
                      <a:r>
                        <a:rPr lang="en-US" sz="800" b="1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1e-4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712727"/>
                  </a:ext>
                </a:extLst>
              </a:tr>
              <a:tr h="202191">
                <a:tc>
                  <a:txBody>
                    <a:bodyPr/>
                    <a:lstStyle/>
                    <a:p>
                      <a:r>
                        <a:rPr lang="en-US" sz="800" b="1"/>
                        <a:t>Loss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Focal Loss = 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221554"/>
                  </a:ext>
                </a:extLst>
              </a:tr>
              <a:tr h="249764">
                <a:tc>
                  <a:txBody>
                    <a:bodyPr/>
                    <a:lstStyle/>
                    <a:p>
                      <a:r>
                        <a:rPr lang="en-US" sz="800" b="1"/>
                        <a:t>Early Stopping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Patience = 8 – Val Macro 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193941"/>
                  </a:ext>
                </a:extLst>
              </a:tr>
              <a:tr h="249764">
                <a:tc>
                  <a:txBody>
                    <a:bodyPr/>
                    <a:lstStyle/>
                    <a:p>
                      <a:r>
                        <a:rPr lang="en-US" sz="800" b="1"/>
                        <a:t>LR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Patience = 4 – Factor=0.5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289611"/>
                  </a:ext>
                </a:extLst>
              </a:tr>
              <a:tr h="2021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 b="1"/>
                        <a:t>Epochs(Max)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104454"/>
                  </a:ext>
                </a:extLst>
              </a:tr>
            </a:tbl>
          </a:graphicData>
        </a:graphic>
      </p:graphicFrame>
      <p:pic>
        <p:nvPicPr>
          <p:cNvPr id="5" name="Picture 4" descr="A black and white flowchart&#10;&#10;AI-generated content may be incorrect.">
            <a:extLst>
              <a:ext uri="{FF2B5EF4-FFF2-40B4-BE49-F238E27FC236}">
                <a16:creationId xmlns:a16="http://schemas.microsoft.com/office/drawing/2014/main" id="{8A361A09-F1BC-F38E-9BD9-30408B520B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241" t="-2301" r="-3871" b="-1266"/>
          <a:stretch>
            <a:fillRect/>
          </a:stretch>
        </p:blipFill>
        <p:spPr>
          <a:xfrm>
            <a:off x="7558669" y="5904"/>
            <a:ext cx="4632903" cy="662739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2FAA7A-F97F-1A61-FE52-54A936C3E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342401"/>
              </p:ext>
            </p:extLst>
          </p:nvPr>
        </p:nvGraphicFramePr>
        <p:xfrm>
          <a:off x="3722691" y="2191903"/>
          <a:ext cx="2986772" cy="179865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46693">
                  <a:extLst>
                    <a:ext uri="{9D8B030D-6E8A-4147-A177-3AD203B41FA5}">
                      <a16:colId xmlns:a16="http://schemas.microsoft.com/office/drawing/2014/main" val="2793608242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2301916119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3998939220"/>
                    </a:ext>
                  </a:extLst>
                </a:gridCol>
                <a:gridCol w="746693">
                  <a:extLst>
                    <a:ext uri="{9D8B030D-6E8A-4147-A177-3AD203B41FA5}">
                      <a16:colId xmlns:a16="http://schemas.microsoft.com/office/drawing/2014/main" val="4236578759"/>
                    </a:ext>
                  </a:extLst>
                </a:gridCol>
              </a:tblGrid>
              <a:tr h="35633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Class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Precision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Recall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F1 Score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515901"/>
                  </a:ext>
                </a:extLst>
              </a:tr>
              <a:tr h="22058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Intact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0.96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0.95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0.95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244633"/>
                  </a:ext>
                </a:extLst>
              </a:tr>
              <a:tr h="35633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Major Damage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0.00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0.00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0.00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810601"/>
                  </a:ext>
                </a:extLst>
              </a:tr>
              <a:tr h="50905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Structural Failure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0.12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74602"/>
                  </a:ext>
                </a:extLst>
              </a:tr>
              <a:tr h="35633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Macro Average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65028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8867963-0E02-CD1E-0FEE-95AF52D10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695308"/>
              </p:ext>
            </p:extLst>
          </p:nvPr>
        </p:nvGraphicFramePr>
        <p:xfrm>
          <a:off x="6092789" y="4467977"/>
          <a:ext cx="2257284" cy="18301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04459">
                  <a:extLst>
                    <a:ext uri="{9D8B030D-6E8A-4147-A177-3AD203B41FA5}">
                      <a16:colId xmlns:a16="http://schemas.microsoft.com/office/drawing/2014/main" val="478627024"/>
                    </a:ext>
                  </a:extLst>
                </a:gridCol>
                <a:gridCol w="952825">
                  <a:extLst>
                    <a:ext uri="{9D8B030D-6E8A-4147-A177-3AD203B41FA5}">
                      <a16:colId xmlns:a16="http://schemas.microsoft.com/office/drawing/2014/main" val="1774127240"/>
                    </a:ext>
                  </a:extLst>
                </a:gridCol>
              </a:tblGrid>
              <a:tr h="3294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Metric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Value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355595"/>
                  </a:ext>
                </a:extLst>
              </a:tr>
              <a:tr h="29281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Test_ACC</a:t>
                      </a:r>
                      <a:endParaRPr lang="en-US" b="0" i="0" err="1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90.56%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223211"/>
                  </a:ext>
                </a:extLst>
              </a:tr>
              <a:tr h="29281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Macro F1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809737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Major_Damage_Detect</a:t>
                      </a:r>
                      <a:endParaRPr lang="en-US" b="0" i="0" err="1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0"/>
                        </a:rPr>
                        <a:t>0%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22867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Structure_Failure</a:t>
                      </a: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 Detect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69.23%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213425"/>
                  </a:ext>
                </a:extLst>
              </a:tr>
            </a:tbl>
          </a:graphicData>
        </a:graphic>
      </p:graphicFrame>
      <p:pic>
        <p:nvPicPr>
          <p:cNvPr id="10" name="Picture 9" descr="A graph with blue dots&#10;&#10;AI-generated content may be incorrect.">
            <a:extLst>
              <a:ext uri="{FF2B5EF4-FFF2-40B4-BE49-F238E27FC236}">
                <a16:creationId xmlns:a16="http://schemas.microsoft.com/office/drawing/2014/main" id="{18782471-7FA2-17F0-9400-970E2E186C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168" t="-2473" r="-715" b="-869"/>
          <a:stretch>
            <a:fillRect/>
          </a:stretch>
        </p:blipFill>
        <p:spPr>
          <a:xfrm>
            <a:off x="379829" y="4251278"/>
            <a:ext cx="2787170" cy="22570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0AFC6A-2CD1-648D-0D1F-1FA4FFB50E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644" t="-3093" r="-1243" b="-4938"/>
          <a:stretch>
            <a:fillRect/>
          </a:stretch>
        </p:blipFill>
        <p:spPr>
          <a:xfrm>
            <a:off x="3165931" y="4250335"/>
            <a:ext cx="2751534" cy="237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38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FE3CD-54F1-BB29-44D9-F2AF5FD6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509" y="640861"/>
            <a:ext cx="3039823" cy="790510"/>
          </a:xfrm>
        </p:spPr>
        <p:txBody>
          <a:bodyPr>
            <a:normAutofit/>
          </a:bodyPr>
          <a:lstStyle/>
          <a:p>
            <a:r>
              <a:rPr lang="en-US" sz="2800"/>
              <a:t>Inception-v1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EF3DB-4405-A154-4899-E3F2D22D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906" y="1426999"/>
            <a:ext cx="5632603" cy="12055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400"/>
              <a:t>Parallel 1x1, 3x3, 5x5 convolutions in each block to capture damage features at multiple scales simultaneously 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400"/>
              <a:t>Trained with augmented dataset and same hyperparameters as </a:t>
            </a:r>
            <a:r>
              <a:rPr lang="en-US" sz="1400" err="1"/>
              <a:t>ResNet</a:t>
            </a:r>
          </a:p>
        </p:txBody>
      </p:sp>
      <p:pic>
        <p:nvPicPr>
          <p:cNvPr id="4" name="Picture 3" descr="A black and white diagram&#10;&#10;AI-generated content may be incorrect.">
            <a:extLst>
              <a:ext uri="{FF2B5EF4-FFF2-40B4-BE49-F238E27FC236}">
                <a16:creationId xmlns:a16="http://schemas.microsoft.com/office/drawing/2014/main" id="{7220A7BC-F61A-A724-B92C-E55B4539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268" r="-3157" b="-1609"/>
          <a:stretch>
            <a:fillRect/>
          </a:stretch>
        </p:blipFill>
        <p:spPr>
          <a:xfrm>
            <a:off x="7039660" y="968842"/>
            <a:ext cx="5315700" cy="540703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1D691E-2334-27AD-A879-ED83F3C8B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703430"/>
              </p:ext>
            </p:extLst>
          </p:nvPr>
        </p:nvGraphicFramePr>
        <p:xfrm>
          <a:off x="1113158" y="4779240"/>
          <a:ext cx="2836224" cy="182432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09056">
                  <a:extLst>
                    <a:ext uri="{9D8B030D-6E8A-4147-A177-3AD203B41FA5}">
                      <a16:colId xmlns:a16="http://schemas.microsoft.com/office/drawing/2014/main" val="2793608242"/>
                    </a:ext>
                  </a:extLst>
                </a:gridCol>
                <a:gridCol w="709056">
                  <a:extLst>
                    <a:ext uri="{9D8B030D-6E8A-4147-A177-3AD203B41FA5}">
                      <a16:colId xmlns:a16="http://schemas.microsoft.com/office/drawing/2014/main" val="2301916119"/>
                    </a:ext>
                  </a:extLst>
                </a:gridCol>
                <a:gridCol w="709056">
                  <a:extLst>
                    <a:ext uri="{9D8B030D-6E8A-4147-A177-3AD203B41FA5}">
                      <a16:colId xmlns:a16="http://schemas.microsoft.com/office/drawing/2014/main" val="3998939220"/>
                    </a:ext>
                  </a:extLst>
                </a:gridCol>
                <a:gridCol w="709056">
                  <a:extLst>
                    <a:ext uri="{9D8B030D-6E8A-4147-A177-3AD203B41FA5}">
                      <a16:colId xmlns:a16="http://schemas.microsoft.com/office/drawing/2014/main" val="4236578759"/>
                    </a:ext>
                  </a:extLst>
                </a:gridCol>
              </a:tblGrid>
              <a:tr h="3648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Class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Precision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Recall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F1 Score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515901"/>
                  </a:ext>
                </a:extLst>
              </a:tr>
              <a:tr h="21560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Intact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0.99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0.66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0.79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244633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Major Damage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0.00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0.00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0.00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810601"/>
                  </a:ext>
                </a:extLst>
              </a:tr>
              <a:tr h="51412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Structural Failure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0.05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0.69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0.09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74602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Macro Average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0.34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0.45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0.29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65028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C4F205-1EB9-907F-1B2B-6C1BEC2D5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787783"/>
              </p:ext>
            </p:extLst>
          </p:nvPr>
        </p:nvGraphicFramePr>
        <p:xfrm>
          <a:off x="1111289" y="3071084"/>
          <a:ext cx="2817559" cy="139241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28236">
                  <a:extLst>
                    <a:ext uri="{9D8B030D-6E8A-4147-A177-3AD203B41FA5}">
                      <a16:colId xmlns:a16="http://schemas.microsoft.com/office/drawing/2014/main" val="478627024"/>
                    </a:ext>
                  </a:extLst>
                </a:gridCol>
                <a:gridCol w="1189323">
                  <a:extLst>
                    <a:ext uri="{9D8B030D-6E8A-4147-A177-3AD203B41FA5}">
                      <a16:colId xmlns:a16="http://schemas.microsoft.com/office/drawing/2014/main" val="1774127240"/>
                    </a:ext>
                  </a:extLst>
                </a:gridCol>
              </a:tblGrid>
              <a:tr h="24367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Metric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Value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355595"/>
                  </a:ext>
                </a:extLst>
              </a:tr>
              <a:tr h="22626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Test_ACC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64.73%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223211"/>
                  </a:ext>
                </a:extLst>
              </a:tr>
              <a:tr h="22626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Macro F1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0.29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809737"/>
                  </a:ext>
                </a:extLst>
              </a:tr>
              <a:tr h="34810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Major_Damage_Detect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0%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22867"/>
                  </a:ext>
                </a:extLst>
              </a:tr>
              <a:tr h="34810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Structure_Failure</a:t>
                      </a: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 Detect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92.31%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213425"/>
                  </a:ext>
                </a:extLst>
              </a:tr>
            </a:tbl>
          </a:graphicData>
        </a:graphic>
      </p:graphicFrame>
      <p:pic>
        <p:nvPicPr>
          <p:cNvPr id="9" name="Picture 8" descr="A graph with blue dots&#10;&#10;AI-generated content may be incorrect.">
            <a:extLst>
              <a:ext uri="{FF2B5EF4-FFF2-40B4-BE49-F238E27FC236}">
                <a16:creationId xmlns:a16="http://schemas.microsoft.com/office/drawing/2014/main" id="{E12F2CC3-C4A6-0FEB-4A23-487F96B8C8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20" t="-542" r="-3355" b="-1355"/>
          <a:stretch>
            <a:fillRect/>
          </a:stretch>
        </p:blipFill>
        <p:spPr>
          <a:xfrm>
            <a:off x="3933474" y="2392683"/>
            <a:ext cx="2820578" cy="1882324"/>
          </a:xfrm>
          <a:prstGeom prst="rect">
            <a:avLst/>
          </a:prstGeom>
        </p:spPr>
      </p:pic>
      <p:pic>
        <p:nvPicPr>
          <p:cNvPr id="10" name="Picture 9" descr="A graph with blue lines&#10;&#10;AI-generated content may be incorrect.">
            <a:extLst>
              <a:ext uri="{FF2B5EF4-FFF2-40B4-BE49-F238E27FC236}">
                <a16:creationId xmlns:a16="http://schemas.microsoft.com/office/drawing/2014/main" id="{266112A4-478D-8654-4C46-2985BA7EED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35" t="-2637" r="-3631" b="-588"/>
          <a:stretch>
            <a:fillRect/>
          </a:stretch>
        </p:blipFill>
        <p:spPr>
          <a:xfrm>
            <a:off x="3952497" y="4679816"/>
            <a:ext cx="2861184" cy="191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31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11DB-1A7D-0931-0918-01527DED4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569221"/>
            <a:ext cx="3461601" cy="790510"/>
          </a:xfrm>
        </p:spPr>
        <p:txBody>
          <a:bodyPr>
            <a:normAutofit/>
          </a:bodyPr>
          <a:lstStyle/>
          <a:p>
            <a:r>
              <a:rPr lang="en-US" sz="3200"/>
              <a:t>DenseNet-40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D982-3B4B-F2E1-DA76-D844DE6B3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020" y="1366244"/>
            <a:ext cx="5149632" cy="1661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400"/>
              <a:t>Every layer receives feature maps from previous layers , to make sure no feature is lost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400"/>
              <a:t>Lightest model having only 350,303 parameters, trained on augmented dataset with same parameters as </a:t>
            </a:r>
            <a:r>
              <a:rPr lang="en-US" sz="1400" err="1"/>
              <a:t>ResNet</a:t>
            </a:r>
            <a:endParaRPr lang="en-US" sz="1400"/>
          </a:p>
        </p:txBody>
      </p:sp>
      <p:pic>
        <p:nvPicPr>
          <p:cNvPr id="4" name="Picture 3" descr="A black and white diagram&#10;&#10;AI-generated content may be incorrect.">
            <a:extLst>
              <a:ext uri="{FF2B5EF4-FFF2-40B4-BE49-F238E27FC236}">
                <a16:creationId xmlns:a16="http://schemas.microsoft.com/office/drawing/2014/main" id="{58E2A13E-F874-7432-D3B4-E25AB1AC3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795" t="-2110" r="-10098" b="-2897"/>
          <a:stretch>
            <a:fillRect/>
          </a:stretch>
        </p:blipFill>
        <p:spPr>
          <a:xfrm>
            <a:off x="9146106" y="5458"/>
            <a:ext cx="2577509" cy="688421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3A6F03-F142-8E2E-F04C-2C08AFB90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207887"/>
              </p:ext>
            </p:extLst>
          </p:nvPr>
        </p:nvGraphicFramePr>
        <p:xfrm>
          <a:off x="1715501" y="4786497"/>
          <a:ext cx="2836224" cy="182432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09056">
                  <a:extLst>
                    <a:ext uri="{9D8B030D-6E8A-4147-A177-3AD203B41FA5}">
                      <a16:colId xmlns:a16="http://schemas.microsoft.com/office/drawing/2014/main" val="2793608242"/>
                    </a:ext>
                  </a:extLst>
                </a:gridCol>
                <a:gridCol w="709056">
                  <a:extLst>
                    <a:ext uri="{9D8B030D-6E8A-4147-A177-3AD203B41FA5}">
                      <a16:colId xmlns:a16="http://schemas.microsoft.com/office/drawing/2014/main" val="2301916119"/>
                    </a:ext>
                  </a:extLst>
                </a:gridCol>
                <a:gridCol w="709056">
                  <a:extLst>
                    <a:ext uri="{9D8B030D-6E8A-4147-A177-3AD203B41FA5}">
                      <a16:colId xmlns:a16="http://schemas.microsoft.com/office/drawing/2014/main" val="3998939220"/>
                    </a:ext>
                  </a:extLst>
                </a:gridCol>
                <a:gridCol w="709056">
                  <a:extLst>
                    <a:ext uri="{9D8B030D-6E8A-4147-A177-3AD203B41FA5}">
                      <a16:colId xmlns:a16="http://schemas.microsoft.com/office/drawing/2014/main" val="4236578759"/>
                    </a:ext>
                  </a:extLst>
                </a:gridCol>
              </a:tblGrid>
              <a:tr h="3648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Class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Precision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Recall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F1 Score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515901"/>
                  </a:ext>
                </a:extLst>
              </a:tr>
              <a:tr h="21560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Intact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0.95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0.99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0.97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244633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Major Damage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0.17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0.05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0.07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810601"/>
                  </a:ext>
                </a:extLst>
              </a:tr>
              <a:tr h="51412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Structural Failure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0.00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0.00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0.00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74602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Macro Average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0.37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0.34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0.35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65028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B594E1-5E08-0023-012F-745E57D17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834018"/>
              </p:ext>
            </p:extLst>
          </p:nvPr>
        </p:nvGraphicFramePr>
        <p:xfrm>
          <a:off x="2044295" y="2622686"/>
          <a:ext cx="2008255" cy="193514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60548">
                  <a:extLst>
                    <a:ext uri="{9D8B030D-6E8A-4147-A177-3AD203B41FA5}">
                      <a16:colId xmlns:a16="http://schemas.microsoft.com/office/drawing/2014/main" val="478627024"/>
                    </a:ext>
                  </a:extLst>
                </a:gridCol>
                <a:gridCol w="847707">
                  <a:extLst>
                    <a:ext uri="{9D8B030D-6E8A-4147-A177-3AD203B41FA5}">
                      <a16:colId xmlns:a16="http://schemas.microsoft.com/office/drawing/2014/main" val="1774127240"/>
                    </a:ext>
                  </a:extLst>
                </a:gridCol>
              </a:tblGrid>
              <a:tr h="26944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Metric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Value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355595"/>
                  </a:ext>
                </a:extLst>
              </a:tr>
              <a:tr h="2449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Test_ACC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94.28%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223211"/>
                  </a:ext>
                </a:extLst>
              </a:tr>
              <a:tr h="2449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Macro F1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0.3116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809737"/>
                  </a:ext>
                </a:extLst>
              </a:tr>
              <a:tr h="39192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Major_Damage_Detect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0%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22867"/>
                  </a:ext>
                </a:extLst>
              </a:tr>
              <a:tr h="391929">
                <a:tc>
                  <a:txBody>
                    <a:bodyPr/>
                    <a:lstStyle/>
                    <a:p>
                      <a:pPr lvl="0" algn="l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Best Val_Macro_F1</a:t>
                      </a:r>
                    </a:p>
                  </a:txBody>
                  <a:tcPr marL="69723" marR="69723" marT="34861" marB="34861">
                    <a:lnL w="9677">
                      <a:solidFill>
                        <a:srgbClr val="000000"/>
                      </a:solidFill>
                    </a:lnL>
                    <a:lnR w="9677">
                      <a:solidFill>
                        <a:srgbClr val="000000"/>
                      </a:solidFill>
                    </a:lnR>
                    <a:lnT w="9677">
                      <a:solidFill>
                        <a:srgbClr val="000000"/>
                      </a:solidFill>
                    </a:lnT>
                    <a:lnB w="9677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0.8143</a:t>
                      </a:r>
                    </a:p>
                  </a:txBody>
                  <a:tcPr marL="69723" marR="69723" marT="34861" marB="34861">
                    <a:lnL w="9677">
                      <a:solidFill>
                        <a:srgbClr val="000000"/>
                      </a:solidFill>
                    </a:lnL>
                    <a:lnR w="9677">
                      <a:solidFill>
                        <a:srgbClr val="000000"/>
                      </a:solidFill>
                    </a:lnR>
                    <a:lnT w="9677">
                      <a:solidFill>
                        <a:srgbClr val="000000"/>
                      </a:solidFill>
                    </a:lnT>
                    <a:lnB w="9677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660669"/>
                  </a:ext>
                </a:extLst>
              </a:tr>
              <a:tr h="39192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Structure_Failure</a:t>
                      </a: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 Detect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84.62%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213425"/>
                  </a:ext>
                </a:extLst>
              </a:tr>
            </a:tbl>
          </a:graphicData>
        </a:graphic>
      </p:graphicFrame>
      <p:pic>
        <p:nvPicPr>
          <p:cNvPr id="9" name="Picture 8" descr="A graph with blue dots&#10;&#10;AI-generated content may be incorrect.">
            <a:extLst>
              <a:ext uri="{FF2B5EF4-FFF2-40B4-BE49-F238E27FC236}">
                <a16:creationId xmlns:a16="http://schemas.microsoft.com/office/drawing/2014/main" id="{0CCD4138-F94E-DBD9-5F0C-021BD0E708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15" t="-4068" r="-2688" b="-2373"/>
          <a:stretch>
            <a:fillRect/>
          </a:stretch>
        </p:blipFill>
        <p:spPr>
          <a:xfrm>
            <a:off x="6239908" y="1487034"/>
            <a:ext cx="2780723" cy="22724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62E05D-086C-677B-04BA-DBF4CA47B9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791" t="-5942" r="-3023" b="-4682"/>
          <a:stretch>
            <a:fillRect/>
          </a:stretch>
        </p:blipFill>
        <p:spPr>
          <a:xfrm>
            <a:off x="5711825" y="3903052"/>
            <a:ext cx="3308721" cy="270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61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73A0B-0DFE-D587-E976-E20CAA79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649" y="588759"/>
            <a:ext cx="5812729" cy="790510"/>
          </a:xfrm>
        </p:spPr>
        <p:txBody>
          <a:bodyPr>
            <a:normAutofit/>
          </a:bodyPr>
          <a:lstStyle/>
          <a:p>
            <a:r>
              <a:rPr lang="en-US" sz="3200"/>
              <a:t>Retrained Base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2B553-06D0-BBE5-ACF2-AFFA7AFD3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648" y="1385781"/>
            <a:ext cx="5806217" cy="13733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400"/>
              <a:t>Same Base CNN architecture, with changing the input from 224x224x3 to 160x160x3, focal loss 2.0 to 3.0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1400"/>
              <a:t>Trained on the augmented dataset, with same parameters as </a:t>
            </a:r>
            <a:r>
              <a:rPr lang="en-US" sz="1400" err="1"/>
              <a:t>ResNet</a:t>
            </a:r>
            <a:endParaRPr lang="en-US" sz="14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477658-118A-3F4F-063D-0E4408DA0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889518"/>
              </p:ext>
            </p:extLst>
          </p:nvPr>
        </p:nvGraphicFramePr>
        <p:xfrm>
          <a:off x="1439884" y="4697327"/>
          <a:ext cx="2836224" cy="182432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09056">
                  <a:extLst>
                    <a:ext uri="{9D8B030D-6E8A-4147-A177-3AD203B41FA5}">
                      <a16:colId xmlns:a16="http://schemas.microsoft.com/office/drawing/2014/main" val="2793608242"/>
                    </a:ext>
                  </a:extLst>
                </a:gridCol>
                <a:gridCol w="709056">
                  <a:extLst>
                    <a:ext uri="{9D8B030D-6E8A-4147-A177-3AD203B41FA5}">
                      <a16:colId xmlns:a16="http://schemas.microsoft.com/office/drawing/2014/main" val="2301916119"/>
                    </a:ext>
                  </a:extLst>
                </a:gridCol>
                <a:gridCol w="709056">
                  <a:extLst>
                    <a:ext uri="{9D8B030D-6E8A-4147-A177-3AD203B41FA5}">
                      <a16:colId xmlns:a16="http://schemas.microsoft.com/office/drawing/2014/main" val="3998939220"/>
                    </a:ext>
                  </a:extLst>
                </a:gridCol>
                <a:gridCol w="709056">
                  <a:extLst>
                    <a:ext uri="{9D8B030D-6E8A-4147-A177-3AD203B41FA5}">
                      <a16:colId xmlns:a16="http://schemas.microsoft.com/office/drawing/2014/main" val="4236578759"/>
                    </a:ext>
                  </a:extLst>
                </a:gridCol>
              </a:tblGrid>
              <a:tr h="3648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Class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Precision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Recall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F1 Score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515901"/>
                  </a:ext>
                </a:extLst>
              </a:tr>
              <a:tr h="21560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Intact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0.97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0.89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0.93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244633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Major Damage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0.08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0.45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0.13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810601"/>
                  </a:ext>
                </a:extLst>
              </a:tr>
              <a:tr h="51412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Structural Failure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0.00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0.00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0.00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74602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Macro Average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0.35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0.45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0.35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6502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75A91A-A826-831F-A2C4-4155DCA98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726035"/>
              </p:ext>
            </p:extLst>
          </p:nvPr>
        </p:nvGraphicFramePr>
        <p:xfrm>
          <a:off x="1442936" y="2626468"/>
          <a:ext cx="2818953" cy="187146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29041">
                  <a:extLst>
                    <a:ext uri="{9D8B030D-6E8A-4147-A177-3AD203B41FA5}">
                      <a16:colId xmlns:a16="http://schemas.microsoft.com/office/drawing/2014/main" val="478627024"/>
                    </a:ext>
                  </a:extLst>
                </a:gridCol>
                <a:gridCol w="1189912">
                  <a:extLst>
                    <a:ext uri="{9D8B030D-6E8A-4147-A177-3AD203B41FA5}">
                      <a16:colId xmlns:a16="http://schemas.microsoft.com/office/drawing/2014/main" val="1774127240"/>
                    </a:ext>
                  </a:extLst>
                </a:gridCol>
              </a:tblGrid>
              <a:tr h="26944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Metric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Value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355595"/>
                  </a:ext>
                </a:extLst>
              </a:tr>
              <a:tr h="2449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Test_ACC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85.70%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223211"/>
                  </a:ext>
                </a:extLst>
              </a:tr>
              <a:tr h="244954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Macro F1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0.2966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809737"/>
                  </a:ext>
                </a:extLst>
              </a:tr>
              <a:tr h="32824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Major_Damage_Detect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32%</a:t>
                      </a: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22867"/>
                  </a:ext>
                </a:extLst>
              </a:tr>
              <a:tr h="391929">
                <a:tc>
                  <a:txBody>
                    <a:bodyPr/>
                    <a:lstStyle/>
                    <a:p>
                      <a:pPr lvl="0" algn="l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Best Val_Macro_F1</a:t>
                      </a:r>
                    </a:p>
                  </a:txBody>
                  <a:tcPr marL="69723" marR="69723" marT="34861" marB="34861">
                    <a:lnL w="9677">
                      <a:solidFill>
                        <a:srgbClr val="000000"/>
                      </a:solidFill>
                    </a:lnL>
                    <a:lnR w="9677">
                      <a:solidFill>
                        <a:srgbClr val="000000"/>
                      </a:solidFill>
                    </a:lnR>
                    <a:lnT w="9677">
                      <a:solidFill>
                        <a:srgbClr val="000000"/>
                      </a:solidFill>
                    </a:lnT>
                    <a:lnB w="9677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0.7367</a:t>
                      </a:r>
                    </a:p>
                  </a:txBody>
                  <a:tcPr marL="69723" marR="69723" marT="34861" marB="34861">
                    <a:lnL w="9677">
                      <a:solidFill>
                        <a:srgbClr val="000000"/>
                      </a:solidFill>
                    </a:lnL>
                    <a:lnR w="9677">
                      <a:solidFill>
                        <a:srgbClr val="000000"/>
                      </a:solidFill>
                    </a:lnR>
                    <a:lnT w="9677">
                      <a:solidFill>
                        <a:srgbClr val="000000"/>
                      </a:solidFill>
                    </a:lnT>
                    <a:lnB w="9677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660669"/>
                  </a:ext>
                </a:extLst>
              </a:tr>
              <a:tr h="39192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1" i="0" dirty="0" err="1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Structure_Failure</a:t>
                      </a:r>
                      <a:r>
                        <a:rPr lang="en-US" sz="1050" b="1" i="0" dirty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 Detect</a:t>
                      </a:r>
                      <a:endParaRPr lang="en-US" sz="1050" b="0" i="0" dirty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23.08%</a:t>
                      </a:r>
                      <a:endParaRPr lang="en-US" sz="105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9723" marR="69723" marT="34862" marB="34862">
                    <a:lnL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7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213425"/>
                  </a:ext>
                </a:extLst>
              </a:tr>
            </a:tbl>
          </a:graphicData>
        </a:graphic>
      </p:graphicFrame>
      <p:pic>
        <p:nvPicPr>
          <p:cNvPr id="8" name="Picture 7" descr="A black and white diagram with text&#10;&#10;AI-generated content may be incorrect.">
            <a:extLst>
              <a:ext uri="{FF2B5EF4-FFF2-40B4-BE49-F238E27FC236}">
                <a16:creationId xmlns:a16="http://schemas.microsoft.com/office/drawing/2014/main" id="{F2B67154-C5F6-C058-0D75-1B5C6ACD4C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484" t="-5173" r="-4709" b="-4742"/>
          <a:stretch>
            <a:fillRect/>
          </a:stretch>
        </p:blipFill>
        <p:spPr>
          <a:xfrm>
            <a:off x="8839244" y="293077"/>
            <a:ext cx="3175921" cy="6227952"/>
          </a:xfrm>
          <a:prstGeom prst="rect">
            <a:avLst/>
          </a:prstGeom>
        </p:spPr>
      </p:pic>
      <p:pic>
        <p:nvPicPr>
          <p:cNvPr id="9" name="Picture 8" descr="A graph of a line graph&#10;&#10;AI-generated content may be incorrect.">
            <a:extLst>
              <a:ext uri="{FF2B5EF4-FFF2-40B4-BE49-F238E27FC236}">
                <a16:creationId xmlns:a16="http://schemas.microsoft.com/office/drawing/2014/main" id="{4E220AB6-BCC0-2EED-9998-59CBE4422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404" t="-1111" r="-4681" b="-6111"/>
          <a:stretch>
            <a:fillRect/>
          </a:stretch>
        </p:blipFill>
        <p:spPr>
          <a:xfrm>
            <a:off x="4871621" y="2267479"/>
            <a:ext cx="3183900" cy="2056367"/>
          </a:xfrm>
          <a:prstGeom prst="rect">
            <a:avLst/>
          </a:prstGeom>
        </p:spPr>
      </p:pic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DEA6E711-3BD9-03C4-24B8-6BFD89A5E3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79" t="-2800" r="-5583" b="-3192"/>
          <a:stretch>
            <a:fillRect/>
          </a:stretch>
        </p:blipFill>
        <p:spPr>
          <a:xfrm>
            <a:off x="4876653" y="4319639"/>
            <a:ext cx="3246856" cy="204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64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D80F9-A78D-E050-194A-CDC87801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458502"/>
            <a:ext cx="4705550" cy="790510"/>
          </a:xfrm>
        </p:spPr>
        <p:txBody>
          <a:bodyPr>
            <a:normAutofit/>
          </a:bodyPr>
          <a:lstStyle/>
          <a:p>
            <a:r>
              <a:rPr lang="en-US" sz="2800"/>
              <a:t>Benchmark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F88346-C9B8-C1E2-DCE1-C404EAFAA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525208"/>
              </p:ext>
            </p:extLst>
          </p:nvPr>
        </p:nvGraphicFramePr>
        <p:xfrm>
          <a:off x="1777999" y="4643641"/>
          <a:ext cx="7343120" cy="1980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8624">
                  <a:extLst>
                    <a:ext uri="{9D8B030D-6E8A-4147-A177-3AD203B41FA5}">
                      <a16:colId xmlns:a16="http://schemas.microsoft.com/office/drawing/2014/main" val="3680018833"/>
                    </a:ext>
                  </a:extLst>
                </a:gridCol>
                <a:gridCol w="1468624">
                  <a:extLst>
                    <a:ext uri="{9D8B030D-6E8A-4147-A177-3AD203B41FA5}">
                      <a16:colId xmlns:a16="http://schemas.microsoft.com/office/drawing/2014/main" val="808391031"/>
                    </a:ext>
                  </a:extLst>
                </a:gridCol>
                <a:gridCol w="1468624">
                  <a:extLst>
                    <a:ext uri="{9D8B030D-6E8A-4147-A177-3AD203B41FA5}">
                      <a16:colId xmlns:a16="http://schemas.microsoft.com/office/drawing/2014/main" val="1613354491"/>
                    </a:ext>
                  </a:extLst>
                </a:gridCol>
                <a:gridCol w="1468624">
                  <a:extLst>
                    <a:ext uri="{9D8B030D-6E8A-4147-A177-3AD203B41FA5}">
                      <a16:colId xmlns:a16="http://schemas.microsoft.com/office/drawing/2014/main" val="2319555943"/>
                    </a:ext>
                  </a:extLst>
                </a:gridCol>
                <a:gridCol w="1468624">
                  <a:extLst>
                    <a:ext uri="{9D8B030D-6E8A-4147-A177-3AD203B41FA5}">
                      <a16:colId xmlns:a16="http://schemas.microsoft.com/office/drawing/2014/main" val="1757935087"/>
                    </a:ext>
                  </a:extLst>
                </a:gridCol>
              </a:tblGrid>
              <a:tr h="330030">
                <a:tc>
                  <a:txBody>
                    <a:bodyPr/>
                    <a:lstStyle/>
                    <a:p>
                      <a:r>
                        <a:rPr lang="en-US" sz="1100" b="1"/>
                        <a:t>Model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err="1"/>
                        <a:t>Test_Acc</a:t>
                      </a:r>
                      <a:endParaRPr lang="en-US" sz="11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Val_Macro_F1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MD Detected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SF Detected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871582"/>
                  </a:ext>
                </a:extLst>
              </a:tr>
              <a:tr h="330030">
                <a:tc>
                  <a:txBody>
                    <a:bodyPr/>
                    <a:lstStyle/>
                    <a:p>
                      <a:r>
                        <a:rPr lang="en-US" sz="1100" b="1"/>
                        <a:t>Custom CNN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85.70%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0.7367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23.08%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285288"/>
                  </a:ext>
                </a:extLst>
              </a:tr>
              <a:tr h="330030">
                <a:tc>
                  <a:txBody>
                    <a:bodyPr/>
                    <a:lstStyle/>
                    <a:p>
                      <a:r>
                        <a:rPr lang="en-US" sz="1100" b="1"/>
                        <a:t>VGG-16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94.66%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0.4602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96674"/>
                  </a:ext>
                </a:extLst>
              </a:tr>
              <a:tr h="330030">
                <a:tc>
                  <a:txBody>
                    <a:bodyPr/>
                    <a:lstStyle/>
                    <a:p>
                      <a:r>
                        <a:rPr lang="en-US" sz="1100" b="1"/>
                        <a:t>ResNet-18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90.56%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0.6266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69.23%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291598"/>
                  </a:ext>
                </a:extLst>
              </a:tr>
              <a:tr h="330030">
                <a:tc>
                  <a:txBody>
                    <a:bodyPr/>
                    <a:lstStyle/>
                    <a:p>
                      <a:r>
                        <a:rPr lang="en-US" sz="1100" b="1"/>
                        <a:t>Incepton-V1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64.73%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92.31%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396686"/>
                  </a:ext>
                </a:extLst>
              </a:tr>
              <a:tr h="330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1"/>
                        <a:t>DenseNet-40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94.28%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0.8143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84.62%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760878"/>
                  </a:ext>
                </a:extLst>
              </a:tr>
            </a:tbl>
          </a:graphicData>
        </a:graphic>
      </p:graphicFrame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99E99BD3-0ACC-F46E-F3A9-37B7E8615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417" y="1132816"/>
            <a:ext cx="7482417" cy="324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86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875C-6430-21ED-D35F-A08F57B3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432451"/>
            <a:ext cx="6796165" cy="790510"/>
          </a:xfrm>
        </p:spPr>
        <p:txBody>
          <a:bodyPr>
            <a:normAutofit/>
          </a:bodyPr>
          <a:lstStyle/>
          <a:p>
            <a:r>
              <a:rPr lang="en-US" sz="2800"/>
              <a:t>Grad-CAM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5F4A1-D949-50AA-05B4-05D7D74F4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229474"/>
            <a:ext cx="4151961" cy="26954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Gradient-Weighted Class Activation Mapping, shows exactly what regions of image model focuses on for its prediction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/>
              <a:t>Generated for Base CNN Retrained, Red and Yellow regions show high model attention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C8CE94-D0A2-8003-509C-78625BBEB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175051"/>
              </p:ext>
            </p:extLst>
          </p:nvPr>
        </p:nvGraphicFramePr>
        <p:xfrm>
          <a:off x="1367691" y="3927230"/>
          <a:ext cx="4727489" cy="1834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2466">
                  <a:extLst>
                    <a:ext uri="{9D8B030D-6E8A-4147-A177-3AD203B41FA5}">
                      <a16:colId xmlns:a16="http://schemas.microsoft.com/office/drawing/2014/main" val="1081976647"/>
                    </a:ext>
                  </a:extLst>
                </a:gridCol>
                <a:gridCol w="1012112">
                  <a:extLst>
                    <a:ext uri="{9D8B030D-6E8A-4147-A177-3AD203B41FA5}">
                      <a16:colId xmlns:a16="http://schemas.microsoft.com/office/drawing/2014/main" val="1570074725"/>
                    </a:ext>
                  </a:extLst>
                </a:gridCol>
                <a:gridCol w="1012112">
                  <a:extLst>
                    <a:ext uri="{9D8B030D-6E8A-4147-A177-3AD203B41FA5}">
                      <a16:colId xmlns:a16="http://schemas.microsoft.com/office/drawing/2014/main" val="45214496"/>
                    </a:ext>
                  </a:extLst>
                </a:gridCol>
                <a:gridCol w="1180799">
                  <a:extLst>
                    <a:ext uri="{9D8B030D-6E8A-4147-A177-3AD203B41FA5}">
                      <a16:colId xmlns:a16="http://schemas.microsoft.com/office/drawing/2014/main" val="548252042"/>
                    </a:ext>
                  </a:extLst>
                </a:gridCol>
              </a:tblGrid>
              <a:tr h="366869">
                <a:tc>
                  <a:txBody>
                    <a:bodyPr/>
                    <a:lstStyle/>
                    <a:p>
                      <a:r>
                        <a:rPr lang="en-US" sz="1200" b="1"/>
                        <a:t>Class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Images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Correct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Accuracy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961253"/>
                  </a:ext>
                </a:extLst>
              </a:tr>
              <a:tr h="366869">
                <a:tc>
                  <a:txBody>
                    <a:bodyPr/>
                    <a:lstStyle/>
                    <a:p>
                      <a:r>
                        <a:rPr lang="en-US" sz="1200" b="1"/>
                        <a:t>Intact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1543"/>
                  </a:ext>
                </a:extLst>
              </a:tr>
              <a:tr h="366869">
                <a:tc>
                  <a:txBody>
                    <a:bodyPr/>
                    <a:lstStyle/>
                    <a:p>
                      <a:r>
                        <a:rPr lang="en-US" sz="1200" b="1"/>
                        <a:t>Major Damage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~47%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650513"/>
                  </a:ext>
                </a:extLst>
              </a:tr>
              <a:tr h="366869">
                <a:tc>
                  <a:txBody>
                    <a:bodyPr/>
                    <a:lstStyle/>
                    <a:p>
                      <a:r>
                        <a:rPr lang="en-US" sz="1200" b="1"/>
                        <a:t>Structural Failure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822633"/>
                  </a:ext>
                </a:extLst>
              </a:tr>
              <a:tr h="366869">
                <a:tc>
                  <a:txBody>
                    <a:bodyPr/>
                    <a:lstStyle/>
                    <a:p>
                      <a:r>
                        <a:rPr lang="en-US" sz="1200" b="1"/>
                        <a:t>Total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48.89%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57202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AB31652-E7DA-4E73-6BA8-464F944C5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229" y="429846"/>
            <a:ext cx="3497851" cy="1979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7414D6-6AD0-E319-8053-2D6576507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817" y="2429282"/>
            <a:ext cx="3469240" cy="2005950"/>
          </a:xfrm>
          <a:prstGeom prst="rect">
            <a:avLst/>
          </a:prstGeom>
        </p:spPr>
      </p:pic>
      <p:pic>
        <p:nvPicPr>
          <p:cNvPr id="7" name="Picture 6" descr="A close-up of a colorful image&#10;&#10;AI-generated content may be incorrect.">
            <a:extLst>
              <a:ext uri="{FF2B5EF4-FFF2-40B4-BE49-F238E27FC236}">
                <a16:creationId xmlns:a16="http://schemas.microsoft.com/office/drawing/2014/main" id="{2DBFE393-B3D3-2663-F19B-007AC3E7D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252" y="4435231"/>
            <a:ext cx="3475753" cy="199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38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9F2D-8E4F-9127-DC4B-803610D87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627836"/>
            <a:ext cx="2947088" cy="529998"/>
          </a:xfrm>
        </p:spPr>
        <p:txBody>
          <a:bodyPr>
            <a:normAutofit/>
          </a:bodyPr>
          <a:lstStyle/>
          <a:p>
            <a:r>
              <a:rPr lang="en-US" sz="28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E2B58-D48D-0CB3-B814-0F7BA3B41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391" y="1926346"/>
            <a:ext cx="9238474" cy="35827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2000"/>
              <a:t>DenseNet-40 achieved best overall Validation Macro F1 of 0.8143, a 133% improvement from the baseline 0.33 value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2000"/>
              <a:t>7 Strategies applied simultaneously to address class imbalance, major damage detection improved from 0% to 32%, structural failure detection reached 84%</a:t>
            </a:r>
          </a:p>
          <a:p>
            <a:pPr marL="285750" indent="-285750">
              <a:buFont typeface="Arial" panose="020B0504020202020204" pitchFamily="34" charset="0"/>
              <a:buChar char="•"/>
            </a:pPr>
            <a:r>
              <a:rPr lang="en-US" sz="2000" dirty="0"/>
              <a:t>Future work: collecting more labelled minority class disaster images, explore vision transformer architectures, combining both </a:t>
            </a:r>
            <a:r>
              <a:rPr lang="en-US" sz="2000" dirty="0" err="1"/>
              <a:t>DenseNet</a:t>
            </a:r>
            <a:r>
              <a:rPr lang="en-US" sz="2000" dirty="0"/>
              <a:t> and Base CNN in real-world deployment</a:t>
            </a:r>
          </a:p>
        </p:txBody>
      </p:sp>
    </p:spTree>
    <p:extLst>
      <p:ext uri="{BB962C8B-B14F-4D97-AF65-F5344CB8AC3E}">
        <p14:creationId xmlns:p14="http://schemas.microsoft.com/office/powerpoint/2010/main" val="1922134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56AF3-34DE-9308-90F1-7B78EE652B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75623" y="2851613"/>
            <a:ext cx="4442526" cy="1155863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50674421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 design_Copilot Layouts_win32_SD_V7" id="{D68CBEBD-98F0-4FAF-8687-8614116B2926}" vid="{DBF1F633-2586-48B7-A7E5-6478FA1D81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9D4D66-A82C-4C14-A5CE-108788051B7D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8D147B0A-A3D1-43B0-B0BE-D6581D3609D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16ACBC-C288-4FE2-A121-1047B4270A6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Bjorn</vt:lpstr>
      <vt:lpstr>Multi-Class Infrastructure damage  Classification using Aerial Remote Sensing</vt:lpstr>
      <vt:lpstr>Problem Statement</vt:lpstr>
      <vt:lpstr>Dataset Overview</vt:lpstr>
      <vt:lpstr>Class Distribution</vt:lpstr>
      <vt:lpstr>Custom Preprocessing pipeline</vt:lpstr>
      <vt:lpstr>Base Custom CNN Architecture</vt:lpstr>
      <vt:lpstr>Base CNN Results </vt:lpstr>
      <vt:lpstr>Strategies to address class imbalance</vt:lpstr>
      <vt:lpstr>VGG-16</vt:lpstr>
      <vt:lpstr>Resnet-18 </vt:lpstr>
      <vt:lpstr>Inception-v1</vt:lpstr>
      <vt:lpstr>DenseNet-40</vt:lpstr>
      <vt:lpstr>Retrained Base CNN</vt:lpstr>
      <vt:lpstr>Benchmark Analysis</vt:lpstr>
      <vt:lpstr>Grad-CAM Visualizations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Multi-Class Infrastructure damage  Classification using Aerial Remote Sensing</dc:title>
  <dc:creator/>
  <cp:revision>34</cp:revision>
  <dcterms:created xsi:type="dcterms:W3CDTF">2026-04-29T21:21:01Z</dcterms:created>
  <dcterms:modified xsi:type="dcterms:W3CDTF">2026-05-04T00:59:48Z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